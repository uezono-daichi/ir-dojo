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1" r:id="rId1"/>
  </p:sldMasterIdLst>
  <p:notesMasterIdLst>
    <p:notesMasterId r:id="rId13"/>
  </p:notesMasterIdLst>
  <p:sldIdLst>
    <p:sldId id="266" r:id="rId2"/>
    <p:sldId id="267" r:id="rId3"/>
    <p:sldId id="268" r:id="rId4"/>
    <p:sldId id="269" r:id="rId5"/>
    <p:sldId id="270" r:id="rId6"/>
    <p:sldId id="271" r:id="rId7"/>
    <p:sldId id="272" r:id="rId8"/>
    <p:sldId id="273" r:id="rId9"/>
    <p:sldId id="275" r:id="rId10"/>
    <p:sldId id="274" r:id="rId11"/>
    <p:sldId id="259" r:id="rId12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AA2F8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323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168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87292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>
          <a:extLst>
            <a:ext uri="{FF2B5EF4-FFF2-40B4-BE49-F238E27FC236}">
              <a16:creationId xmlns:a16="http://schemas.microsoft.com/office/drawing/2014/main" id="{82F55234-E156-DB5F-DF62-705E5D9D9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>
            <a:extLst>
              <a:ext uri="{FF2B5EF4-FFF2-40B4-BE49-F238E27FC236}">
                <a16:creationId xmlns:a16="http://schemas.microsoft.com/office/drawing/2014/main" id="{F531937C-3D8B-65AF-6554-BA303BD392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2:notes">
            <a:extLst>
              <a:ext uri="{FF2B5EF4-FFF2-40B4-BE49-F238E27FC236}">
                <a16:creationId xmlns:a16="http://schemas.microsoft.com/office/drawing/2014/main" id="{7B524327-FAEF-C60D-EDF7-756F707C84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837432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>
          <a:extLst>
            <a:ext uri="{FF2B5EF4-FFF2-40B4-BE49-F238E27FC236}">
              <a16:creationId xmlns:a16="http://schemas.microsoft.com/office/drawing/2014/main" id="{89DD83E9-CCA8-1E94-F246-A1286B390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>
            <a:extLst>
              <a:ext uri="{FF2B5EF4-FFF2-40B4-BE49-F238E27FC236}">
                <a16:creationId xmlns:a16="http://schemas.microsoft.com/office/drawing/2014/main" id="{BA0ACE8B-CF75-CCE6-79F5-3E0075FC3D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2:notes">
            <a:extLst>
              <a:ext uri="{FF2B5EF4-FFF2-40B4-BE49-F238E27FC236}">
                <a16:creationId xmlns:a16="http://schemas.microsoft.com/office/drawing/2014/main" id="{97F7286F-16C2-A7D6-033A-22066701AC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71265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>
          <a:extLst>
            <a:ext uri="{FF2B5EF4-FFF2-40B4-BE49-F238E27FC236}">
              <a16:creationId xmlns:a16="http://schemas.microsoft.com/office/drawing/2014/main" id="{90443D55-29C0-E6C7-075B-F24EA9DD5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>
            <a:extLst>
              <a:ext uri="{FF2B5EF4-FFF2-40B4-BE49-F238E27FC236}">
                <a16:creationId xmlns:a16="http://schemas.microsoft.com/office/drawing/2014/main" id="{40BF281B-860A-58CD-667D-6624AF58C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2:notes">
            <a:extLst>
              <a:ext uri="{FF2B5EF4-FFF2-40B4-BE49-F238E27FC236}">
                <a16:creationId xmlns:a16="http://schemas.microsoft.com/office/drawing/2014/main" id="{F3B3C7DC-2AE3-A0FF-9D5B-C62E2AF081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153783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>
          <a:extLst>
            <a:ext uri="{FF2B5EF4-FFF2-40B4-BE49-F238E27FC236}">
              <a16:creationId xmlns:a16="http://schemas.microsoft.com/office/drawing/2014/main" id="{84A5ECD1-BF66-0E29-5B40-F31139B10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>
            <a:extLst>
              <a:ext uri="{FF2B5EF4-FFF2-40B4-BE49-F238E27FC236}">
                <a16:creationId xmlns:a16="http://schemas.microsoft.com/office/drawing/2014/main" id="{6C109282-BD36-5FFC-7F7E-A4CA5B4350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2:notes">
            <a:extLst>
              <a:ext uri="{FF2B5EF4-FFF2-40B4-BE49-F238E27FC236}">
                <a16:creationId xmlns:a16="http://schemas.microsoft.com/office/drawing/2014/main" id="{6CE316B7-5185-413D-B887-1DBD665AA3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440237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>
          <a:extLst>
            <a:ext uri="{FF2B5EF4-FFF2-40B4-BE49-F238E27FC236}">
              <a16:creationId xmlns:a16="http://schemas.microsoft.com/office/drawing/2014/main" id="{EDD4CC30-BAE0-4716-E6B6-6C9848ECD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>
            <a:extLst>
              <a:ext uri="{FF2B5EF4-FFF2-40B4-BE49-F238E27FC236}">
                <a16:creationId xmlns:a16="http://schemas.microsoft.com/office/drawing/2014/main" id="{EB030E78-5A87-61E5-9CEF-AFA2B30762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2:notes">
            <a:extLst>
              <a:ext uri="{FF2B5EF4-FFF2-40B4-BE49-F238E27FC236}">
                <a16:creationId xmlns:a16="http://schemas.microsoft.com/office/drawing/2014/main" id="{68E60976-29C5-A364-EC47-BEA8977BC7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34626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>
          <a:extLst>
            <a:ext uri="{FF2B5EF4-FFF2-40B4-BE49-F238E27FC236}">
              <a16:creationId xmlns:a16="http://schemas.microsoft.com/office/drawing/2014/main" id="{4C55DF8F-668C-5450-CA75-29E72FDC7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>
            <a:extLst>
              <a:ext uri="{FF2B5EF4-FFF2-40B4-BE49-F238E27FC236}">
                <a16:creationId xmlns:a16="http://schemas.microsoft.com/office/drawing/2014/main" id="{999927DA-F520-1B12-39FF-38E8247413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2:notes">
            <a:extLst>
              <a:ext uri="{FF2B5EF4-FFF2-40B4-BE49-F238E27FC236}">
                <a16:creationId xmlns:a16="http://schemas.microsoft.com/office/drawing/2014/main" id="{F15B3E60-1DFE-BF8E-E8EA-E964879433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039333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>
          <a:extLst>
            <a:ext uri="{FF2B5EF4-FFF2-40B4-BE49-F238E27FC236}">
              <a16:creationId xmlns:a16="http://schemas.microsoft.com/office/drawing/2014/main" id="{8A32FC49-F246-7430-8A7A-4CA3B9550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>
            <a:extLst>
              <a:ext uri="{FF2B5EF4-FFF2-40B4-BE49-F238E27FC236}">
                <a16:creationId xmlns:a16="http://schemas.microsoft.com/office/drawing/2014/main" id="{BEACAFF9-FE8E-F808-D344-805FFC9A02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2:notes">
            <a:extLst>
              <a:ext uri="{FF2B5EF4-FFF2-40B4-BE49-F238E27FC236}">
                <a16:creationId xmlns:a16="http://schemas.microsoft.com/office/drawing/2014/main" id="{04BC20C1-2EC3-8BDF-A497-8BF8EED7CB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796424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>
          <a:extLst>
            <a:ext uri="{FF2B5EF4-FFF2-40B4-BE49-F238E27FC236}">
              <a16:creationId xmlns:a16="http://schemas.microsoft.com/office/drawing/2014/main" id="{84DE3074-6345-652E-31E1-F35B18DBF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>
            <a:extLst>
              <a:ext uri="{FF2B5EF4-FFF2-40B4-BE49-F238E27FC236}">
                <a16:creationId xmlns:a16="http://schemas.microsoft.com/office/drawing/2014/main" id="{B86B1487-EFBF-7929-E764-D8BEE250E2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2:notes">
            <a:extLst>
              <a:ext uri="{FF2B5EF4-FFF2-40B4-BE49-F238E27FC236}">
                <a16:creationId xmlns:a16="http://schemas.microsoft.com/office/drawing/2014/main" id="{7D8A88E0-5B0C-1AC0-EE46-88305A5E87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449611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51929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055249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238756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8"/>
            <a:ext cx="3886200" cy="326350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8"/>
            <a:ext cx="3886200" cy="326350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412721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9/26/26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220120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9/26/26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853106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9/26/26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11346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960603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850376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27547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3"/>
            <a:ext cx="1971675" cy="4358879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3"/>
            <a:ext cx="5800725" cy="4358879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4612778"/>
      </p:ext>
    </p:extLst>
  </p:cSld>
  <p:clrMapOvr>
    <a:masterClrMapping/>
  </p:clrMapOvr>
  <p:hf sldNum="0" hdr="0" ftr="0" dt="0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9/26/26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853850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jpeg"/><Relationship Id="rId6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/>
          <p:nvPr/>
        </p:nvSpPr>
        <p:spPr>
          <a:xfrm>
            <a:off x="8207414" y="0"/>
            <a:ext cx="5661736" cy="5143500"/>
          </a:xfrm>
          <a:custGeom>
            <a:avLst/>
            <a:gdLst/>
            <a:ahLst/>
            <a:cxnLst/>
            <a:rect l="l" t="t" r="r" b="b"/>
            <a:pathLst>
              <a:path w="11323471" h="10287000" extrusionOk="0">
                <a:moveTo>
                  <a:pt x="0" y="0"/>
                </a:moveTo>
                <a:lnTo>
                  <a:pt x="11323471" y="0"/>
                </a:lnTo>
                <a:lnTo>
                  <a:pt x="1132347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8701" r="-6656" b="-8700"/>
            </a:stretch>
          </a:blipFill>
          <a:ln>
            <a:noFill/>
          </a:ln>
        </p:spPr>
        <p:txBody>
          <a:bodyPr/>
          <a:lstStyle/>
          <a:p>
            <a:endParaRPr lang="ja-JP" altLang="en-US" sz="900"/>
          </a:p>
        </p:txBody>
      </p:sp>
      <p:sp>
        <p:nvSpPr>
          <p:cNvPr id="45" name="Google Shape;45;p10"/>
          <p:cNvSpPr/>
          <p:nvPr/>
        </p:nvSpPr>
        <p:spPr>
          <a:xfrm>
            <a:off x="514349" y="2720389"/>
            <a:ext cx="1543060" cy="80306"/>
          </a:xfrm>
          <a:custGeom>
            <a:avLst/>
            <a:gdLst/>
            <a:ahLst/>
            <a:cxnLst/>
            <a:rect l="l" t="t" r="r" b="b"/>
            <a:pathLst>
              <a:path w="812800" h="42302" extrusionOk="0">
                <a:moveTo>
                  <a:pt x="0" y="0"/>
                </a:moveTo>
                <a:lnTo>
                  <a:pt x="812800" y="0"/>
                </a:lnTo>
                <a:lnTo>
                  <a:pt x="812800" y="42302"/>
                </a:lnTo>
                <a:lnTo>
                  <a:pt x="0" y="42302"/>
                </a:lnTo>
                <a:close/>
              </a:path>
            </a:pathLst>
          </a:custGeom>
          <a:solidFill>
            <a:srgbClr val="7AA2F8"/>
          </a:solidFill>
          <a:ln>
            <a:noFill/>
          </a:ln>
        </p:spPr>
        <p:txBody>
          <a:bodyPr/>
          <a:lstStyle/>
          <a:p>
            <a:endParaRPr lang="ja-JP" altLang="en-US" sz="900"/>
          </a:p>
        </p:txBody>
      </p: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29D30742-2A5D-0746-2A5E-FFA4C74E0ADF}"/>
              </a:ext>
            </a:extLst>
          </p:cNvPr>
          <p:cNvGrpSpPr/>
          <p:nvPr/>
        </p:nvGrpSpPr>
        <p:grpSpPr>
          <a:xfrm>
            <a:off x="3813701" y="3314484"/>
            <a:ext cx="3195463" cy="1701342"/>
            <a:chOff x="3764838" y="3239980"/>
            <a:chExt cx="3195463" cy="1701342"/>
          </a:xfrm>
        </p:grpSpPr>
        <p:sp>
          <p:nvSpPr>
            <p:cNvPr id="2" name="山形 1">
              <a:extLst>
                <a:ext uri="{FF2B5EF4-FFF2-40B4-BE49-F238E27FC236}">
                  <a16:creationId xmlns:a16="http://schemas.microsoft.com/office/drawing/2014/main" id="{AF613916-4E1D-B3C4-7769-F06978274283}"/>
                </a:ext>
              </a:extLst>
            </p:cNvPr>
            <p:cNvSpPr/>
            <p:nvPr/>
          </p:nvSpPr>
          <p:spPr>
            <a:xfrm>
              <a:off x="3764838" y="3239980"/>
              <a:ext cx="1065946" cy="1689053"/>
            </a:xfrm>
            <a:prstGeom prst="chevron">
              <a:avLst/>
            </a:prstGeom>
            <a:solidFill>
              <a:srgbClr val="7AA2F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5" name="山形 4">
              <a:extLst>
                <a:ext uri="{FF2B5EF4-FFF2-40B4-BE49-F238E27FC236}">
                  <a16:creationId xmlns:a16="http://schemas.microsoft.com/office/drawing/2014/main" id="{23D22E5C-3F8B-FFDB-3CD0-21AE4FE60D81}"/>
                </a:ext>
              </a:extLst>
            </p:cNvPr>
            <p:cNvSpPr/>
            <p:nvPr/>
          </p:nvSpPr>
          <p:spPr>
            <a:xfrm>
              <a:off x="4830784" y="3252269"/>
              <a:ext cx="1065946" cy="1689053"/>
            </a:xfrm>
            <a:prstGeom prst="chevron">
              <a:avLst/>
            </a:prstGeom>
            <a:solidFill>
              <a:srgbClr val="7AA2F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山形 5">
              <a:extLst>
                <a:ext uri="{FF2B5EF4-FFF2-40B4-BE49-F238E27FC236}">
                  <a16:creationId xmlns:a16="http://schemas.microsoft.com/office/drawing/2014/main" id="{BD07C759-ED8E-A630-C737-3703A7ED7E40}"/>
                </a:ext>
              </a:extLst>
            </p:cNvPr>
            <p:cNvSpPr/>
            <p:nvPr/>
          </p:nvSpPr>
          <p:spPr>
            <a:xfrm>
              <a:off x="5894355" y="3252269"/>
              <a:ext cx="1065946" cy="1689053"/>
            </a:xfrm>
            <a:prstGeom prst="chevron">
              <a:avLst/>
            </a:prstGeom>
            <a:solidFill>
              <a:srgbClr val="7AA2F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</p:grpSp>
      <p:pic>
        <p:nvPicPr>
          <p:cNvPr id="52" name="Google Shape;5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96143" y="1477"/>
            <a:ext cx="4540613" cy="5264588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図 7" descr="グラフィカル ユーザー インターフェイス が含まれている画像&#10;&#10;自動的に生成された説明">
            <a:extLst>
              <a:ext uri="{FF2B5EF4-FFF2-40B4-BE49-F238E27FC236}">
                <a16:creationId xmlns:a16="http://schemas.microsoft.com/office/drawing/2014/main" id="{1DA9CEED-3F2F-6F3C-26BF-41A7B44D21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038821"/>
            <a:ext cx="2224718" cy="423756"/>
          </a:xfrm>
          <a:prstGeom prst="rect">
            <a:avLst/>
          </a:prstGeom>
        </p:spPr>
      </p:pic>
      <p:pic>
        <p:nvPicPr>
          <p:cNvPr id="9" name="図 8" descr="ロゴ, 会社名&#10;&#10;自動的に生成された説明">
            <a:extLst>
              <a:ext uri="{FF2B5EF4-FFF2-40B4-BE49-F238E27FC236}">
                <a16:creationId xmlns:a16="http://schemas.microsoft.com/office/drawing/2014/main" id="{9BEA7596-9FB6-80C1-160C-03B1D959499E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17948" r="1231" b="26408"/>
          <a:stretch/>
        </p:blipFill>
        <p:spPr>
          <a:xfrm>
            <a:off x="2681918" y="4037666"/>
            <a:ext cx="1150523" cy="423756"/>
          </a:xfrm>
          <a:prstGeom prst="rect">
            <a:avLst/>
          </a:prstGeom>
        </p:spPr>
      </p:pic>
      <p:sp>
        <p:nvSpPr>
          <p:cNvPr id="10" name="Text 3">
            <a:extLst>
              <a:ext uri="{FF2B5EF4-FFF2-40B4-BE49-F238E27FC236}">
                <a16:creationId xmlns:a16="http://schemas.microsoft.com/office/drawing/2014/main" id="{BE6A5104-8874-631C-74A3-0FEE835E74DB}"/>
              </a:ext>
            </a:extLst>
          </p:cNvPr>
          <p:cNvSpPr/>
          <p:nvPr/>
        </p:nvSpPr>
        <p:spPr>
          <a:xfrm>
            <a:off x="457200" y="893956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7AA2F7"/>
                </a:solidFill>
                <a:latin typeface="Hiragino Kaku Gothic StdN W8" panose="020B0800000000000000" pitchFamily="34" charset="-128"/>
                <a:ea typeface="Hiragino Kaku Gothic StdN W8" panose="020B0800000000000000" pitchFamily="34" charset="-128"/>
                <a:cs typeface="Calibri" pitchFamily="34" charset="-120"/>
              </a:rPr>
              <a:t>I R </a:t>
            </a:r>
            <a:r>
              <a:rPr lang="en-US" sz="7200" b="1" dirty="0">
                <a:solidFill>
                  <a:srgbClr val="7AA2F7"/>
                </a:solidFill>
                <a:latin typeface="Hiragino Kaku Gothic StdN W8" panose="020B0800000000000000" pitchFamily="34" charset="-128"/>
                <a:ea typeface="Hiragino Kaku Gothic StdN W8" panose="020B0800000000000000" pitchFamily="34" charset="-128"/>
                <a:cs typeface="Calibri" pitchFamily="34" charset="-120"/>
              </a:rPr>
              <a:t>Dojo</a:t>
            </a:r>
            <a:endParaRPr lang="en-US" sz="7200" dirty="0">
              <a:latin typeface="Hiragino Kaku Gothic StdN W8" panose="020B0800000000000000" pitchFamily="34" charset="-128"/>
              <a:ea typeface="Hiragino Kaku Gothic StdN W8" panose="020B0800000000000000" pitchFamily="34" charset="-128"/>
            </a:endParaRPr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EB28CECA-63A3-C723-6558-D196F9A06717}"/>
              </a:ext>
            </a:extLst>
          </p:cNvPr>
          <p:cNvSpPr/>
          <p:nvPr/>
        </p:nvSpPr>
        <p:spPr>
          <a:xfrm>
            <a:off x="603383" y="135795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ncident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r>
              <a:rPr lang="en-US" sz="1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esponse</a:t>
            </a:r>
            <a:endParaRPr lang="en-US" sz="1800" b="1" dirty="0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CC28B2AB-41A7-7177-40F3-0D1336F9E95E}"/>
              </a:ext>
            </a:extLst>
          </p:cNvPr>
          <p:cNvSpPr/>
          <p:nvPr/>
        </p:nvSpPr>
        <p:spPr>
          <a:xfrm>
            <a:off x="457200" y="188319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自動採点型セキュリティインシデント対応演習エンジン</a:t>
            </a:r>
            <a:endParaRPr lang="en-US" sz="130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94981041-1228-1A93-FA15-4B26054F8877}"/>
              </a:ext>
            </a:extLst>
          </p:cNvPr>
          <p:cNvSpPr/>
          <p:nvPr/>
        </p:nvSpPr>
        <p:spPr>
          <a:xfrm>
            <a:off x="369789" y="2855784"/>
            <a:ext cx="3375241" cy="3331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CSS2026 MWS</a:t>
            </a: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 </a:t>
            </a:r>
            <a:r>
              <a:rPr lang="en-US" sz="1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事前課題</a:t>
            </a:r>
            <a:endParaRPr lang="en-US" sz="18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11"/>
          <p:cNvGrpSpPr/>
          <p:nvPr/>
        </p:nvGrpSpPr>
        <p:grpSpPr>
          <a:xfrm>
            <a:off x="0" y="0"/>
            <a:ext cx="9144000" cy="5143500"/>
            <a:chOff x="0" y="0"/>
            <a:chExt cx="24384000" cy="13716000"/>
          </a:xfrm>
        </p:grpSpPr>
        <p:sp>
          <p:nvSpPr>
            <p:cNvPr id="58" name="Google Shape;58;p11"/>
            <p:cNvSpPr/>
            <p:nvPr/>
          </p:nvSpPr>
          <p:spPr>
            <a:xfrm rot="5400000">
              <a:off x="8503696" y="-8503696"/>
              <a:ext cx="7376608" cy="24384000"/>
            </a:xfrm>
            <a:custGeom>
              <a:avLst/>
              <a:gdLst/>
              <a:ahLst/>
              <a:cxnLst/>
              <a:rect l="l" t="t" r="r" b="b"/>
              <a:pathLst>
                <a:path w="7376608" h="24384000" extrusionOk="0">
                  <a:moveTo>
                    <a:pt x="0" y="0"/>
                  </a:moveTo>
                  <a:lnTo>
                    <a:pt x="7376608" y="0"/>
                  </a:lnTo>
                  <a:lnTo>
                    <a:pt x="7376608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l="-25548" r="-205007"/>
              </a:stretch>
            </a:blipFill>
            <a:ln>
              <a:noFill/>
            </a:ln>
          </p:spPr>
          <p:txBody>
            <a:bodyPr/>
            <a:lstStyle/>
            <a:p>
              <a:endParaRPr lang="ja-JP" altLang="en-US" sz="900"/>
            </a:p>
          </p:txBody>
        </p:sp>
        <p:sp>
          <p:nvSpPr>
            <p:cNvPr id="59" name="Google Shape;59;p11"/>
            <p:cNvSpPr/>
            <p:nvPr/>
          </p:nvSpPr>
          <p:spPr>
            <a:xfrm rot="5400000" flipH="1">
              <a:off x="9022304" y="-1645696"/>
              <a:ext cx="6339392" cy="24384000"/>
            </a:xfrm>
            <a:custGeom>
              <a:avLst/>
              <a:gdLst/>
              <a:ahLst/>
              <a:cxnLst/>
              <a:rect l="l" t="t" r="r" b="b"/>
              <a:pathLst>
                <a:path w="6339392" h="24384000" extrusionOk="0">
                  <a:moveTo>
                    <a:pt x="0" y="24384000"/>
                  </a:moveTo>
                  <a:lnTo>
                    <a:pt x="6339392" y="24384000"/>
                  </a:lnTo>
                  <a:lnTo>
                    <a:pt x="6339392" y="0"/>
                  </a:lnTo>
                  <a:lnTo>
                    <a:pt x="0" y="0"/>
                  </a:lnTo>
                  <a:lnTo>
                    <a:pt x="0" y="2438400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l="-29726" r="-254888"/>
              </a:stretch>
            </a:blipFill>
            <a:ln>
              <a:noFill/>
            </a:ln>
          </p:spPr>
          <p:txBody>
            <a:bodyPr/>
            <a:lstStyle/>
            <a:p>
              <a:endParaRPr lang="ja-JP" altLang="en-US" sz="900"/>
            </a:p>
          </p:txBody>
        </p:sp>
      </p:grpSp>
      <p:grpSp>
        <p:nvGrpSpPr>
          <p:cNvPr id="60" name="Google Shape;60;p11"/>
          <p:cNvGrpSpPr/>
          <p:nvPr/>
        </p:nvGrpSpPr>
        <p:grpSpPr>
          <a:xfrm>
            <a:off x="385139" y="399016"/>
            <a:ext cx="8385542" cy="4387004"/>
            <a:chOff x="0" y="-47625"/>
            <a:chExt cx="4417075" cy="2310850"/>
          </a:xfrm>
        </p:grpSpPr>
        <p:sp>
          <p:nvSpPr>
            <p:cNvPr id="61" name="Google Shape;61;p11"/>
            <p:cNvSpPr/>
            <p:nvPr/>
          </p:nvSpPr>
          <p:spPr>
            <a:xfrm>
              <a:off x="0" y="0"/>
              <a:ext cx="4417075" cy="2263225"/>
            </a:xfrm>
            <a:custGeom>
              <a:avLst/>
              <a:gdLst/>
              <a:ahLst/>
              <a:cxnLst/>
              <a:rect l="l" t="t" r="r" b="b"/>
              <a:pathLst>
                <a:path w="4417075" h="2263225" extrusionOk="0">
                  <a:moveTo>
                    <a:pt x="0" y="0"/>
                  </a:moveTo>
                  <a:lnTo>
                    <a:pt x="4417075" y="0"/>
                  </a:lnTo>
                  <a:lnTo>
                    <a:pt x="4417075" y="2263225"/>
                  </a:lnTo>
                  <a:lnTo>
                    <a:pt x="0" y="226322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ja-JP" altLang="en-US" sz="900"/>
            </a:p>
          </p:txBody>
        </p:sp>
        <p:sp>
          <p:nvSpPr>
            <p:cNvPr id="62" name="Google Shape;62;p11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algn="ctr">
                <a:lnSpc>
                  <a:spcPct val="186611"/>
                </a:lnSpc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3" name="Google Shape;63;p11"/>
          <p:cNvSpPr txBox="1"/>
          <p:nvPr/>
        </p:nvSpPr>
        <p:spPr>
          <a:xfrm>
            <a:off x="4889970" y="2139696"/>
            <a:ext cx="3522348" cy="1895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05107" lvl="1" indent="-102553">
              <a:lnSpc>
                <a:spcPct val="140000"/>
              </a:lnSpc>
              <a:buClr>
                <a:srgbClr val="FFFFFF"/>
              </a:buClr>
              <a:buSzPts val="1900"/>
              <a:buFont typeface="Arial"/>
              <a:buChar char="•"/>
            </a:pPr>
            <a:r>
              <a:rPr lang="en-US" sz="1100" b="1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明確な正解が設定されており、実際の現場での対応とのギャップが存在</a:t>
            </a:r>
            <a:endParaRPr lang="en-US" sz="11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  <a:p>
            <a:pPr marL="102554" lvl="1">
              <a:lnSpc>
                <a:spcPct val="140000"/>
              </a:lnSpc>
              <a:buClr>
                <a:srgbClr val="FFFFFF"/>
              </a:buClr>
              <a:buSzPts val="1900"/>
            </a:pPr>
            <a:endParaRPr lang="en-US" sz="11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  <a:p>
            <a:pPr marL="205107" lvl="1" indent="-102553">
              <a:lnSpc>
                <a:spcPct val="140000"/>
              </a:lnSpc>
              <a:buClr>
                <a:srgbClr val="FFFFFF"/>
              </a:buClr>
              <a:buSzPts val="1900"/>
              <a:buFont typeface="Arial"/>
              <a:buChar char="•"/>
            </a:pPr>
            <a:r>
              <a:rPr lang="ja-JP" altLang="en-US" sz="1100" b="1">
                <a:latin typeface="Arial" panose="020B0604020202020204" pitchFamily="34" charset="0"/>
                <a:cs typeface="Arial" panose="020B0604020202020204" pitchFamily="34" charset="0"/>
              </a:rPr>
              <a:t>ユーザが実コマンドを実行して対応するコンテンツでは、技術的に初学者の教育に不適</a:t>
            </a:r>
            <a:endParaRPr lang="en-US" altLang="ja-JP" sz="11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554" lvl="1">
              <a:lnSpc>
                <a:spcPct val="140000"/>
              </a:lnSpc>
              <a:buClr>
                <a:srgbClr val="FFFFFF"/>
              </a:buClr>
              <a:buSzPts val="1900"/>
            </a:pPr>
            <a:endParaRPr lang="en-US" altLang="ja-JP" sz="11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05107" lvl="1" indent="-102553">
              <a:lnSpc>
                <a:spcPct val="140000"/>
              </a:lnSpc>
              <a:buClr>
                <a:srgbClr val="FFFFFF"/>
              </a:buClr>
              <a:buSzPts val="1900"/>
              <a:buFont typeface="Arial"/>
              <a:buChar char="•"/>
            </a:pPr>
            <a:r>
              <a:rPr lang="ja-JP" altLang="en-US" sz="1100" b="1">
                <a:latin typeface="Arial" panose="020B0604020202020204" pitchFamily="34" charset="0"/>
                <a:cs typeface="Arial" panose="020B0604020202020204" pitchFamily="34" charset="0"/>
              </a:rPr>
              <a:t>コンテンツをパッケージ化した場合、インシデントのアップデートが困難</a:t>
            </a:r>
            <a:endParaRPr sz="11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Google Shape;64;p11"/>
          <p:cNvSpPr txBox="1"/>
          <p:nvPr/>
        </p:nvSpPr>
        <p:spPr>
          <a:xfrm>
            <a:off x="779281" y="679537"/>
            <a:ext cx="7435171" cy="646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2"/>
              </a:lnSpc>
            </a:pPr>
            <a:r>
              <a:rPr lang="en-US" sz="3499" b="1" dirty="0" err="1">
                <a:solidFill>
                  <a:srgbClr val="FFFFFF"/>
                </a:solidFill>
                <a:latin typeface="Archivo Black"/>
                <a:sym typeface="Archivo Black"/>
              </a:rPr>
              <a:t>セキュリティ教育の現状の課題</a:t>
            </a:r>
            <a:endParaRPr sz="900" b="1" dirty="0"/>
          </a:p>
        </p:txBody>
      </p:sp>
      <p:sp>
        <p:nvSpPr>
          <p:cNvPr id="66" name="Google Shape;66;p11"/>
          <p:cNvSpPr txBox="1"/>
          <p:nvPr/>
        </p:nvSpPr>
        <p:spPr>
          <a:xfrm>
            <a:off x="1283664" y="1636499"/>
            <a:ext cx="2648833" cy="280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b="1" dirty="0" err="1">
                <a:solidFill>
                  <a:srgbClr val="7AA2F8"/>
                </a:solidFill>
                <a:latin typeface="Noto Sans"/>
                <a:ea typeface="Noto Sans"/>
                <a:cs typeface="Noto Sans"/>
                <a:sym typeface="Noto Sans"/>
              </a:rPr>
              <a:t>現場での実例ベースでの学習</a:t>
            </a:r>
            <a:endParaRPr sz="1400" dirty="0">
              <a:solidFill>
                <a:srgbClr val="7AA2F8"/>
              </a:solidFill>
            </a:endParaRPr>
          </a:p>
        </p:txBody>
      </p:sp>
      <p:sp>
        <p:nvSpPr>
          <p:cNvPr id="67" name="Google Shape;67;p11"/>
          <p:cNvSpPr txBox="1"/>
          <p:nvPr/>
        </p:nvSpPr>
        <p:spPr>
          <a:xfrm>
            <a:off x="5080148" y="1636499"/>
            <a:ext cx="4760827" cy="280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b="1" dirty="0" err="1">
                <a:solidFill>
                  <a:srgbClr val="7AA2F8"/>
                </a:solidFill>
                <a:latin typeface="Noto Sans"/>
                <a:ea typeface="Noto Sans"/>
                <a:cs typeface="Noto Sans"/>
                <a:sym typeface="Noto Sans"/>
              </a:rPr>
              <a:t>既存のインシデント対応学習コンテンツ</a:t>
            </a:r>
            <a:endParaRPr sz="1400" dirty="0">
              <a:solidFill>
                <a:srgbClr val="7AA2F8"/>
              </a:solidFill>
            </a:endParaRPr>
          </a:p>
        </p:txBody>
      </p:sp>
      <p:cxnSp>
        <p:nvCxnSpPr>
          <p:cNvPr id="70" name="Google Shape;70;p11"/>
          <p:cNvCxnSpPr/>
          <p:nvPr/>
        </p:nvCxnSpPr>
        <p:spPr>
          <a:xfrm>
            <a:off x="4562475" y="1632172"/>
            <a:ext cx="9525" cy="2747757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63;p11">
            <a:extLst>
              <a:ext uri="{FF2B5EF4-FFF2-40B4-BE49-F238E27FC236}">
                <a16:creationId xmlns:a16="http://schemas.microsoft.com/office/drawing/2014/main" id="{78DA6B89-5DA5-FD03-C6A2-B62FE089CD4E}"/>
              </a:ext>
            </a:extLst>
          </p:cNvPr>
          <p:cNvSpPr txBox="1"/>
          <p:nvPr/>
        </p:nvSpPr>
        <p:spPr>
          <a:xfrm>
            <a:off x="849135" y="2140775"/>
            <a:ext cx="3395371" cy="1421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74004" lvl="1" indent="-171450">
              <a:lnSpc>
                <a:spcPct val="140000"/>
              </a:lnSpc>
              <a:buClr>
                <a:srgbClr val="FFFFFF"/>
              </a:buClr>
              <a:buSzPts val="1900"/>
              <a:buFont typeface="Arial" panose="020B0604020202020204" pitchFamily="34" charset="0"/>
              <a:buChar char="•"/>
            </a:pPr>
            <a:r>
              <a:rPr lang="en-US" sz="1100" b="1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学習できる知識や技術が実際に起きた実例に依存</a:t>
            </a:r>
            <a:endParaRPr lang="en-US" sz="11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  <a:p>
            <a:pPr marL="102554" lvl="1">
              <a:lnSpc>
                <a:spcPct val="140000"/>
              </a:lnSpc>
              <a:buClr>
                <a:srgbClr val="FFFFFF"/>
              </a:buClr>
              <a:buSzPts val="1900"/>
            </a:pPr>
            <a:endParaRPr lang="en-US" sz="11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  <a:p>
            <a:pPr marL="274004" lvl="1" indent="-171450">
              <a:lnSpc>
                <a:spcPct val="140000"/>
              </a:lnSpc>
              <a:buClr>
                <a:srgbClr val="FFFFFF"/>
              </a:buClr>
              <a:buSzPts val="1900"/>
              <a:buFont typeface="Arial" panose="020B0604020202020204" pitchFamily="34" charset="0"/>
              <a:buChar char="•"/>
            </a:pPr>
            <a:r>
              <a:rPr lang="ja-JP" altLang="en-US" sz="1100" b="1">
                <a:latin typeface="Arial" panose="020B0604020202020204" pitchFamily="34" charset="0"/>
                <a:cs typeface="Arial" panose="020B0604020202020204" pitchFamily="34" charset="0"/>
              </a:rPr>
              <a:t>起きた実例ごとに内容が異なり、再現性に欠ける</a:t>
            </a:r>
            <a:endParaRPr lang="en-US" altLang="ja-JP" sz="11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554" lvl="1">
              <a:lnSpc>
                <a:spcPct val="140000"/>
              </a:lnSpc>
              <a:buClr>
                <a:srgbClr val="FFFFFF"/>
              </a:buClr>
              <a:buSzPts val="1900"/>
            </a:pPr>
            <a:endParaRPr lang="en-US" altLang="ja-JP" sz="11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74004" lvl="1" indent="-171450">
              <a:lnSpc>
                <a:spcPct val="140000"/>
              </a:lnSpc>
              <a:buClr>
                <a:srgbClr val="FFFFFF"/>
              </a:buClr>
              <a:buSzPts val="1900"/>
              <a:buFont typeface="Arial" panose="020B0604020202020204" pitchFamily="34" charset="0"/>
              <a:buChar char="•"/>
            </a:pPr>
            <a:r>
              <a:rPr lang="ja-JP" altLang="en-US" sz="1100" b="1">
                <a:latin typeface="Arial" panose="020B0604020202020204" pitchFamily="34" charset="0"/>
                <a:cs typeface="Arial" panose="020B0604020202020204" pitchFamily="34" charset="0"/>
              </a:rPr>
              <a:t>その時の対応を客観的に分析し、採点することが困難</a:t>
            </a:r>
            <a:endParaRPr sz="11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DA91F4C-7461-6133-05D6-15A8725C9C04}"/>
              </a:ext>
            </a:extLst>
          </p:cNvPr>
          <p:cNvSpPr/>
          <p:nvPr/>
        </p:nvSpPr>
        <p:spPr>
          <a:xfrm>
            <a:off x="779281" y="1311308"/>
            <a:ext cx="1828800" cy="45720"/>
          </a:xfrm>
          <a:prstGeom prst="rect">
            <a:avLst/>
          </a:prstGeom>
          <a:solidFill>
            <a:srgbClr val="7AA2F7"/>
          </a:solidFill>
          <a:ln/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>
          <a:extLst>
            <a:ext uri="{FF2B5EF4-FFF2-40B4-BE49-F238E27FC236}">
              <a16:creationId xmlns:a16="http://schemas.microsoft.com/office/drawing/2014/main" id="{60B83ED6-1E1D-8623-A232-0673D36AF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11">
            <a:extLst>
              <a:ext uri="{FF2B5EF4-FFF2-40B4-BE49-F238E27FC236}">
                <a16:creationId xmlns:a16="http://schemas.microsoft.com/office/drawing/2014/main" id="{4B0B8F7B-E7C3-995F-2379-8B9D03895B55}"/>
              </a:ext>
            </a:extLst>
          </p:cNvPr>
          <p:cNvGrpSpPr/>
          <p:nvPr/>
        </p:nvGrpSpPr>
        <p:grpSpPr>
          <a:xfrm>
            <a:off x="0" y="-11430"/>
            <a:ext cx="9144000" cy="5143500"/>
            <a:chOff x="0" y="0"/>
            <a:chExt cx="24384000" cy="13716000"/>
          </a:xfrm>
        </p:grpSpPr>
        <p:sp>
          <p:nvSpPr>
            <p:cNvPr id="58" name="Google Shape;58;p11">
              <a:extLst>
                <a:ext uri="{FF2B5EF4-FFF2-40B4-BE49-F238E27FC236}">
                  <a16:creationId xmlns:a16="http://schemas.microsoft.com/office/drawing/2014/main" id="{B3792A1C-484A-956C-2055-A4A6F4214C68}"/>
                </a:ext>
              </a:extLst>
            </p:cNvPr>
            <p:cNvSpPr/>
            <p:nvPr/>
          </p:nvSpPr>
          <p:spPr>
            <a:xfrm rot="5400000">
              <a:off x="8503696" y="-8503696"/>
              <a:ext cx="7376608" cy="24384000"/>
            </a:xfrm>
            <a:custGeom>
              <a:avLst/>
              <a:gdLst/>
              <a:ahLst/>
              <a:cxnLst/>
              <a:rect l="l" t="t" r="r" b="b"/>
              <a:pathLst>
                <a:path w="7376608" h="24384000" extrusionOk="0">
                  <a:moveTo>
                    <a:pt x="0" y="0"/>
                  </a:moveTo>
                  <a:lnTo>
                    <a:pt x="7376608" y="0"/>
                  </a:lnTo>
                  <a:lnTo>
                    <a:pt x="7376608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l="-25548" r="-205007"/>
              </a:stretch>
            </a:blipFill>
            <a:ln>
              <a:noFill/>
            </a:ln>
          </p:spPr>
          <p:txBody>
            <a:bodyPr/>
            <a:lstStyle/>
            <a:p>
              <a:endParaRPr lang="ja-JP" altLang="en-US" sz="900"/>
            </a:p>
          </p:txBody>
        </p:sp>
        <p:sp>
          <p:nvSpPr>
            <p:cNvPr id="59" name="Google Shape;59;p11">
              <a:extLst>
                <a:ext uri="{FF2B5EF4-FFF2-40B4-BE49-F238E27FC236}">
                  <a16:creationId xmlns:a16="http://schemas.microsoft.com/office/drawing/2014/main" id="{55779B36-D71E-781C-FEB8-840C46B692B6}"/>
                </a:ext>
              </a:extLst>
            </p:cNvPr>
            <p:cNvSpPr/>
            <p:nvPr/>
          </p:nvSpPr>
          <p:spPr>
            <a:xfrm rot="5400000" flipH="1">
              <a:off x="9022304" y="-1645696"/>
              <a:ext cx="6339392" cy="24384000"/>
            </a:xfrm>
            <a:custGeom>
              <a:avLst/>
              <a:gdLst/>
              <a:ahLst/>
              <a:cxnLst/>
              <a:rect l="l" t="t" r="r" b="b"/>
              <a:pathLst>
                <a:path w="6339392" h="24384000" extrusionOk="0">
                  <a:moveTo>
                    <a:pt x="0" y="24384000"/>
                  </a:moveTo>
                  <a:lnTo>
                    <a:pt x="6339392" y="24384000"/>
                  </a:lnTo>
                  <a:lnTo>
                    <a:pt x="6339392" y="0"/>
                  </a:lnTo>
                  <a:lnTo>
                    <a:pt x="0" y="0"/>
                  </a:lnTo>
                  <a:lnTo>
                    <a:pt x="0" y="2438400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l="-29726" r="-254888"/>
              </a:stretch>
            </a:blipFill>
            <a:ln>
              <a:noFill/>
            </a:ln>
          </p:spPr>
          <p:txBody>
            <a:bodyPr/>
            <a:lstStyle/>
            <a:p>
              <a:endParaRPr lang="ja-JP" altLang="en-US" sz="900"/>
            </a:p>
          </p:txBody>
        </p:sp>
      </p:grpSp>
      <p:grpSp>
        <p:nvGrpSpPr>
          <p:cNvPr id="60" name="Google Shape;60;p11">
            <a:extLst>
              <a:ext uri="{FF2B5EF4-FFF2-40B4-BE49-F238E27FC236}">
                <a16:creationId xmlns:a16="http://schemas.microsoft.com/office/drawing/2014/main" id="{5BF9860F-7A15-5AA5-9022-B361597FF595}"/>
              </a:ext>
            </a:extLst>
          </p:cNvPr>
          <p:cNvGrpSpPr/>
          <p:nvPr/>
        </p:nvGrpSpPr>
        <p:grpSpPr>
          <a:xfrm>
            <a:off x="385139" y="399016"/>
            <a:ext cx="8385542" cy="4387004"/>
            <a:chOff x="0" y="-47625"/>
            <a:chExt cx="4417075" cy="2310850"/>
          </a:xfrm>
        </p:grpSpPr>
        <p:sp>
          <p:nvSpPr>
            <p:cNvPr id="61" name="Google Shape;61;p11">
              <a:extLst>
                <a:ext uri="{FF2B5EF4-FFF2-40B4-BE49-F238E27FC236}">
                  <a16:creationId xmlns:a16="http://schemas.microsoft.com/office/drawing/2014/main" id="{9BA1462D-F9E9-664E-A58B-59F612721A9F}"/>
                </a:ext>
              </a:extLst>
            </p:cNvPr>
            <p:cNvSpPr/>
            <p:nvPr/>
          </p:nvSpPr>
          <p:spPr>
            <a:xfrm>
              <a:off x="0" y="0"/>
              <a:ext cx="4417075" cy="2263225"/>
            </a:xfrm>
            <a:custGeom>
              <a:avLst/>
              <a:gdLst/>
              <a:ahLst/>
              <a:cxnLst/>
              <a:rect l="l" t="t" r="r" b="b"/>
              <a:pathLst>
                <a:path w="4417075" h="2263225" extrusionOk="0">
                  <a:moveTo>
                    <a:pt x="0" y="0"/>
                  </a:moveTo>
                  <a:lnTo>
                    <a:pt x="4417075" y="0"/>
                  </a:lnTo>
                  <a:lnTo>
                    <a:pt x="4417075" y="2263225"/>
                  </a:lnTo>
                  <a:lnTo>
                    <a:pt x="0" y="226322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ja-JP" altLang="en-US" sz="900"/>
            </a:p>
          </p:txBody>
        </p:sp>
        <p:sp>
          <p:nvSpPr>
            <p:cNvPr id="62" name="Google Shape;62;p11">
              <a:extLst>
                <a:ext uri="{FF2B5EF4-FFF2-40B4-BE49-F238E27FC236}">
                  <a16:creationId xmlns:a16="http://schemas.microsoft.com/office/drawing/2014/main" id="{9148D797-08FC-C03E-5BFE-748D0911A157}"/>
                </a:ext>
              </a:extLst>
            </p:cNvPr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algn="ctr">
                <a:lnSpc>
                  <a:spcPct val="186611"/>
                </a:lnSpc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4" name="Google Shape;64;p11">
            <a:extLst>
              <a:ext uri="{FF2B5EF4-FFF2-40B4-BE49-F238E27FC236}">
                <a16:creationId xmlns:a16="http://schemas.microsoft.com/office/drawing/2014/main" id="{3A5142DC-FFA9-3DEF-EF11-8271E16879A8}"/>
              </a:ext>
            </a:extLst>
          </p:cNvPr>
          <p:cNvSpPr txBox="1"/>
          <p:nvPr/>
        </p:nvSpPr>
        <p:spPr>
          <a:xfrm>
            <a:off x="779281" y="679537"/>
            <a:ext cx="7435171" cy="646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2"/>
              </a:lnSpc>
            </a:pPr>
            <a:r>
              <a:rPr lang="en-US" sz="3499" b="1" dirty="0">
                <a:solidFill>
                  <a:srgbClr val="FFFFFF"/>
                </a:solidFill>
                <a:latin typeface="Archivo Black"/>
                <a:sym typeface="Archivo Black"/>
              </a:rPr>
              <a:t>IR Dojo </a:t>
            </a:r>
            <a:r>
              <a:rPr lang="en-US" sz="3499" b="1" dirty="0" err="1">
                <a:solidFill>
                  <a:srgbClr val="FFFFFF"/>
                </a:solidFill>
                <a:latin typeface="Archivo Black"/>
                <a:sym typeface="Archivo Black"/>
              </a:rPr>
              <a:t>について</a:t>
            </a:r>
            <a:endParaRPr sz="900" b="1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0A4FD7A-B503-4E28-423D-827FCA16ABEC}"/>
              </a:ext>
            </a:extLst>
          </p:cNvPr>
          <p:cNvSpPr/>
          <p:nvPr/>
        </p:nvSpPr>
        <p:spPr>
          <a:xfrm>
            <a:off x="779281" y="1311308"/>
            <a:ext cx="1828800" cy="45720"/>
          </a:xfrm>
          <a:prstGeom prst="rect">
            <a:avLst/>
          </a:prstGeom>
          <a:solidFill>
            <a:srgbClr val="7AA2F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5A0D336C-F21A-739C-41AC-FC1BCA858BAC}"/>
              </a:ext>
            </a:extLst>
          </p:cNvPr>
          <p:cNvSpPr/>
          <p:nvPr/>
        </p:nvSpPr>
        <p:spPr>
          <a:xfrm>
            <a:off x="685800" y="146304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7AA2F7"/>
                </a:solidFill>
                <a:latin typeface="Calibri" pitchFamily="34" charset="0"/>
                <a:cs typeface="Calibri" pitchFamily="34" charset="-120"/>
              </a:rPr>
              <a:t>学習コンテンツ</a:t>
            </a:r>
            <a:endParaRPr lang="en-US" sz="1200" dirty="0"/>
          </a:p>
        </p:txBody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81886463-1419-66A4-8D21-BC4D221F546C}"/>
              </a:ext>
            </a:extLst>
          </p:cNvPr>
          <p:cNvSpPr/>
          <p:nvPr/>
        </p:nvSpPr>
        <p:spPr>
          <a:xfrm>
            <a:off x="685800" y="1731710"/>
            <a:ext cx="7818120" cy="4802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/>
              <a:t>複数の演習シナリオから1つを選択し、インシデント発生時の対応を実例ベースで学習する。</a:t>
            </a:r>
          </a:p>
          <a:p>
            <a:pPr marL="0" indent="0">
              <a:buNone/>
            </a:pPr>
            <a:r>
              <a:rPr lang="en-US" sz="1100" dirty="0" err="1"/>
              <a:t>本コンテンツのインシデントレスポンスでは、攻撃の調査・侵害範囲の特定・その後の対応を行う</a:t>
            </a:r>
            <a:r>
              <a:rPr lang="en-US" sz="1100" dirty="0"/>
              <a:t>。</a:t>
            </a:r>
          </a:p>
          <a:p>
            <a:pPr marL="0" indent="0">
              <a:buNone/>
            </a:pPr>
            <a:r>
              <a:rPr lang="en-US" sz="1100" dirty="0" err="1"/>
              <a:t>ノーコードで、行う対応はコマンド入力ではなく「実行可能なアクション」から選択</a:t>
            </a:r>
            <a:r>
              <a:rPr lang="en-US" sz="1100" dirty="0"/>
              <a:t>。</a:t>
            </a:r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FBDE5FFB-0BA9-A6F6-695D-EC69622D5259}"/>
              </a:ext>
            </a:extLst>
          </p:cNvPr>
          <p:cNvSpPr/>
          <p:nvPr/>
        </p:nvSpPr>
        <p:spPr>
          <a:xfrm>
            <a:off x="1712243" y="4323164"/>
            <a:ext cx="1665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ja-JP" altLang="en-US" sz="1100">
                <a:solidFill>
                  <a:srgbClr val="D7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演習シナリオ設定画面</a:t>
            </a:r>
            <a:endParaRPr lang="en-US" sz="1100" dirty="0"/>
          </a:p>
        </p:txBody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AE3C89BE-3A68-DB98-5798-B2C454F5E99B}"/>
              </a:ext>
            </a:extLst>
          </p:cNvPr>
          <p:cNvSpPr/>
          <p:nvPr/>
        </p:nvSpPr>
        <p:spPr>
          <a:xfrm>
            <a:off x="640080" y="2523078"/>
            <a:ext cx="7657581" cy="4517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pic>
        <p:nvPicPr>
          <p:cNvPr id="24" name="図 23">
            <a:extLst>
              <a:ext uri="{FF2B5EF4-FFF2-40B4-BE49-F238E27FC236}">
                <a16:creationId xmlns:a16="http://schemas.microsoft.com/office/drawing/2014/main" id="{CB81DE0A-4B60-4659-F7C5-DA2F08C8AE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1273" y="2363096"/>
            <a:ext cx="3203939" cy="1940847"/>
          </a:xfrm>
          <a:prstGeom prst="rect">
            <a:avLst/>
          </a:prstGeom>
        </p:spPr>
      </p:pic>
      <p:pic>
        <p:nvPicPr>
          <p:cNvPr id="27" name="図 26">
            <a:extLst>
              <a:ext uri="{FF2B5EF4-FFF2-40B4-BE49-F238E27FC236}">
                <a16:creationId xmlns:a16="http://schemas.microsoft.com/office/drawing/2014/main" id="{9352A88E-6CFB-EB07-BCF8-BC356B3A1F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4913" y="2343890"/>
            <a:ext cx="3300628" cy="1940848"/>
          </a:xfrm>
          <a:prstGeom prst="rect">
            <a:avLst/>
          </a:prstGeom>
        </p:spPr>
      </p:pic>
      <p:sp>
        <p:nvSpPr>
          <p:cNvPr id="29" name="Text 5">
            <a:extLst>
              <a:ext uri="{FF2B5EF4-FFF2-40B4-BE49-F238E27FC236}">
                <a16:creationId xmlns:a16="http://schemas.microsoft.com/office/drawing/2014/main" id="{97510061-AA3F-4287-833C-B67859BBC682}"/>
              </a:ext>
            </a:extLst>
          </p:cNvPr>
          <p:cNvSpPr/>
          <p:nvPr/>
        </p:nvSpPr>
        <p:spPr>
          <a:xfrm>
            <a:off x="5624115" y="4321604"/>
            <a:ext cx="1665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ja-JP" altLang="en-US" sz="1100">
                <a:solidFill>
                  <a:srgbClr val="D7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演習中画面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209543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>
          <a:extLst>
            <a:ext uri="{FF2B5EF4-FFF2-40B4-BE49-F238E27FC236}">
              <a16:creationId xmlns:a16="http://schemas.microsoft.com/office/drawing/2014/main" id="{8A29A057-1F4E-C17B-9265-F63156E9D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11">
            <a:extLst>
              <a:ext uri="{FF2B5EF4-FFF2-40B4-BE49-F238E27FC236}">
                <a16:creationId xmlns:a16="http://schemas.microsoft.com/office/drawing/2014/main" id="{63A1F60D-1FFB-2C0F-8466-795FC184EB8F}"/>
              </a:ext>
            </a:extLst>
          </p:cNvPr>
          <p:cNvGrpSpPr/>
          <p:nvPr/>
        </p:nvGrpSpPr>
        <p:grpSpPr>
          <a:xfrm>
            <a:off x="0" y="0"/>
            <a:ext cx="9144000" cy="5143500"/>
            <a:chOff x="0" y="0"/>
            <a:chExt cx="24384000" cy="13716000"/>
          </a:xfrm>
        </p:grpSpPr>
        <p:sp>
          <p:nvSpPr>
            <p:cNvPr id="58" name="Google Shape;58;p11">
              <a:extLst>
                <a:ext uri="{FF2B5EF4-FFF2-40B4-BE49-F238E27FC236}">
                  <a16:creationId xmlns:a16="http://schemas.microsoft.com/office/drawing/2014/main" id="{59DBEA58-8848-98C7-54FF-692121B420E0}"/>
                </a:ext>
              </a:extLst>
            </p:cNvPr>
            <p:cNvSpPr/>
            <p:nvPr/>
          </p:nvSpPr>
          <p:spPr>
            <a:xfrm rot="5400000">
              <a:off x="8503696" y="-8503696"/>
              <a:ext cx="7376608" cy="24384000"/>
            </a:xfrm>
            <a:custGeom>
              <a:avLst/>
              <a:gdLst/>
              <a:ahLst/>
              <a:cxnLst/>
              <a:rect l="l" t="t" r="r" b="b"/>
              <a:pathLst>
                <a:path w="7376608" h="24384000" extrusionOk="0">
                  <a:moveTo>
                    <a:pt x="0" y="0"/>
                  </a:moveTo>
                  <a:lnTo>
                    <a:pt x="7376608" y="0"/>
                  </a:lnTo>
                  <a:lnTo>
                    <a:pt x="7376608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l="-25548" r="-205007"/>
              </a:stretch>
            </a:blipFill>
            <a:ln>
              <a:noFill/>
            </a:ln>
          </p:spPr>
          <p:txBody>
            <a:bodyPr/>
            <a:lstStyle/>
            <a:p>
              <a:endParaRPr lang="ja-JP" altLang="en-US" sz="900"/>
            </a:p>
          </p:txBody>
        </p:sp>
        <p:sp>
          <p:nvSpPr>
            <p:cNvPr id="59" name="Google Shape;59;p11">
              <a:extLst>
                <a:ext uri="{FF2B5EF4-FFF2-40B4-BE49-F238E27FC236}">
                  <a16:creationId xmlns:a16="http://schemas.microsoft.com/office/drawing/2014/main" id="{7E5FE737-BEF9-2F1D-79BE-A356CD5EB4C4}"/>
                </a:ext>
              </a:extLst>
            </p:cNvPr>
            <p:cNvSpPr/>
            <p:nvPr/>
          </p:nvSpPr>
          <p:spPr>
            <a:xfrm rot="5400000" flipH="1">
              <a:off x="9022304" y="-1645696"/>
              <a:ext cx="6339392" cy="24384000"/>
            </a:xfrm>
            <a:custGeom>
              <a:avLst/>
              <a:gdLst/>
              <a:ahLst/>
              <a:cxnLst/>
              <a:rect l="l" t="t" r="r" b="b"/>
              <a:pathLst>
                <a:path w="6339392" h="24384000" extrusionOk="0">
                  <a:moveTo>
                    <a:pt x="0" y="24384000"/>
                  </a:moveTo>
                  <a:lnTo>
                    <a:pt x="6339392" y="24384000"/>
                  </a:lnTo>
                  <a:lnTo>
                    <a:pt x="6339392" y="0"/>
                  </a:lnTo>
                  <a:lnTo>
                    <a:pt x="0" y="0"/>
                  </a:lnTo>
                  <a:lnTo>
                    <a:pt x="0" y="2438400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l="-29726" r="-254888"/>
              </a:stretch>
            </a:blipFill>
            <a:ln>
              <a:noFill/>
            </a:ln>
          </p:spPr>
          <p:txBody>
            <a:bodyPr/>
            <a:lstStyle/>
            <a:p>
              <a:endParaRPr lang="ja-JP" altLang="en-US" sz="900"/>
            </a:p>
          </p:txBody>
        </p:sp>
      </p:grpSp>
      <p:grpSp>
        <p:nvGrpSpPr>
          <p:cNvPr id="60" name="Google Shape;60;p11">
            <a:extLst>
              <a:ext uri="{FF2B5EF4-FFF2-40B4-BE49-F238E27FC236}">
                <a16:creationId xmlns:a16="http://schemas.microsoft.com/office/drawing/2014/main" id="{57A06C19-CF3F-31C9-2D2E-EF1FE1FCEB93}"/>
              </a:ext>
            </a:extLst>
          </p:cNvPr>
          <p:cNvGrpSpPr/>
          <p:nvPr/>
        </p:nvGrpSpPr>
        <p:grpSpPr>
          <a:xfrm>
            <a:off x="385139" y="399016"/>
            <a:ext cx="8385542" cy="4387004"/>
            <a:chOff x="0" y="-47625"/>
            <a:chExt cx="4417075" cy="2310850"/>
          </a:xfrm>
        </p:grpSpPr>
        <p:sp>
          <p:nvSpPr>
            <p:cNvPr id="61" name="Google Shape;61;p11">
              <a:extLst>
                <a:ext uri="{FF2B5EF4-FFF2-40B4-BE49-F238E27FC236}">
                  <a16:creationId xmlns:a16="http://schemas.microsoft.com/office/drawing/2014/main" id="{C48881CF-5BA8-F180-664E-2E13737DDB3C}"/>
                </a:ext>
              </a:extLst>
            </p:cNvPr>
            <p:cNvSpPr/>
            <p:nvPr/>
          </p:nvSpPr>
          <p:spPr>
            <a:xfrm>
              <a:off x="0" y="0"/>
              <a:ext cx="4417075" cy="2263225"/>
            </a:xfrm>
            <a:custGeom>
              <a:avLst/>
              <a:gdLst/>
              <a:ahLst/>
              <a:cxnLst/>
              <a:rect l="l" t="t" r="r" b="b"/>
              <a:pathLst>
                <a:path w="4417075" h="2263225" extrusionOk="0">
                  <a:moveTo>
                    <a:pt x="0" y="0"/>
                  </a:moveTo>
                  <a:lnTo>
                    <a:pt x="4417075" y="0"/>
                  </a:lnTo>
                  <a:lnTo>
                    <a:pt x="4417075" y="2263225"/>
                  </a:lnTo>
                  <a:lnTo>
                    <a:pt x="0" y="226322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ja-JP" altLang="en-US" sz="900"/>
            </a:p>
          </p:txBody>
        </p:sp>
        <p:sp>
          <p:nvSpPr>
            <p:cNvPr id="62" name="Google Shape;62;p11">
              <a:extLst>
                <a:ext uri="{FF2B5EF4-FFF2-40B4-BE49-F238E27FC236}">
                  <a16:creationId xmlns:a16="http://schemas.microsoft.com/office/drawing/2014/main" id="{37C6FB73-D2D2-F1D7-9AA2-1EC4FB74E3C1}"/>
                </a:ext>
              </a:extLst>
            </p:cNvPr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algn="ctr">
                <a:lnSpc>
                  <a:spcPct val="186611"/>
                </a:lnSpc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4" name="Google Shape;64;p11">
            <a:extLst>
              <a:ext uri="{FF2B5EF4-FFF2-40B4-BE49-F238E27FC236}">
                <a16:creationId xmlns:a16="http://schemas.microsoft.com/office/drawing/2014/main" id="{198EE0C8-6C9C-CF0D-5498-EC19C89360F3}"/>
              </a:ext>
            </a:extLst>
          </p:cNvPr>
          <p:cNvSpPr txBox="1"/>
          <p:nvPr/>
        </p:nvSpPr>
        <p:spPr>
          <a:xfrm>
            <a:off x="779281" y="679537"/>
            <a:ext cx="7435171" cy="646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2"/>
              </a:lnSpc>
            </a:pPr>
            <a:r>
              <a:rPr lang="en-US" sz="3499" b="1" dirty="0">
                <a:solidFill>
                  <a:srgbClr val="FFFFFF"/>
                </a:solidFill>
                <a:latin typeface="Archivo Black"/>
                <a:sym typeface="Archivo Black"/>
              </a:rPr>
              <a:t>IR Dojo </a:t>
            </a:r>
            <a:r>
              <a:rPr lang="en-US" sz="3499" b="1" dirty="0" err="1">
                <a:solidFill>
                  <a:srgbClr val="FFFFFF"/>
                </a:solidFill>
                <a:latin typeface="Archivo Black"/>
                <a:sym typeface="Archivo Black"/>
              </a:rPr>
              <a:t>の特徴</a:t>
            </a:r>
            <a:endParaRPr sz="900" b="1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6FF5424-38A6-1ED5-2D00-B6EF4DBA6AFD}"/>
              </a:ext>
            </a:extLst>
          </p:cNvPr>
          <p:cNvSpPr/>
          <p:nvPr/>
        </p:nvSpPr>
        <p:spPr>
          <a:xfrm>
            <a:off x="779281" y="1311308"/>
            <a:ext cx="1828800" cy="45720"/>
          </a:xfrm>
          <a:prstGeom prst="rect">
            <a:avLst/>
          </a:prstGeom>
          <a:solidFill>
            <a:srgbClr val="7AA2F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D6D5C15C-7DF3-6FEB-09F6-97E238D4D07D}"/>
              </a:ext>
            </a:extLst>
          </p:cNvPr>
          <p:cNvSpPr/>
          <p:nvPr/>
        </p:nvSpPr>
        <p:spPr>
          <a:xfrm>
            <a:off x="656635" y="1742883"/>
            <a:ext cx="2344479" cy="2386690"/>
          </a:xfrm>
          <a:prstGeom prst="rect">
            <a:avLst/>
          </a:prstGeom>
          <a:solidFill>
            <a:srgbClr val="252D37"/>
          </a:solidFill>
          <a:ln w="19050">
            <a:solidFill>
              <a:srgbClr val="7AA2F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603F465D-68B8-BD73-2F4C-4E15DDBEA78D}"/>
              </a:ext>
            </a:extLst>
          </p:cNvPr>
          <p:cNvSpPr/>
          <p:nvPr/>
        </p:nvSpPr>
        <p:spPr>
          <a:xfrm>
            <a:off x="797131" y="1776937"/>
            <a:ext cx="2021103" cy="3409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複数のシナリオ搭載</a:t>
            </a:r>
            <a:endParaRPr lang="en-US" sz="1200" dirty="0"/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CBD47934-9056-9CDC-ADAD-5E252219F155}"/>
              </a:ext>
            </a:extLst>
          </p:cNvPr>
          <p:cNvSpPr/>
          <p:nvPr/>
        </p:nvSpPr>
        <p:spPr>
          <a:xfrm>
            <a:off x="3399686" y="1742883"/>
            <a:ext cx="2344479" cy="2386690"/>
          </a:xfrm>
          <a:prstGeom prst="rect">
            <a:avLst/>
          </a:prstGeom>
          <a:solidFill>
            <a:srgbClr val="252D37"/>
          </a:solidFill>
          <a:ln w="19050">
            <a:solidFill>
              <a:srgbClr val="7AA2F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715ADDCB-F1AC-D70A-8615-E75504D07393}"/>
              </a:ext>
            </a:extLst>
          </p:cNvPr>
          <p:cNvSpPr/>
          <p:nvPr/>
        </p:nvSpPr>
        <p:spPr>
          <a:xfrm>
            <a:off x="3540182" y="1776937"/>
            <a:ext cx="2021103" cy="3409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 b="1"/>
              <a:t>3段階のアシスト選択</a:t>
            </a:r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584D59E2-9C8B-9A41-7772-5B16FD505C0B}"/>
              </a:ext>
            </a:extLst>
          </p:cNvPr>
          <p:cNvSpPr/>
          <p:nvPr/>
        </p:nvSpPr>
        <p:spPr>
          <a:xfrm>
            <a:off x="3469933" y="2117893"/>
            <a:ext cx="2203983" cy="1704779"/>
          </a:xfrm>
          <a:prstGeom prst="rect">
            <a:avLst/>
          </a:prstGeom>
          <a:noFill/>
          <a:ln/>
        </p:spPr>
        <p:txBody>
          <a:bodyPr wrap="square" rtlCol="0" anchor="t" tIns="109728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3段階のアシストレベルを設けることで、初学者〜経験者へとユーザ拡大</a:t>
            </a:r>
          </a:p>
          <a:p>
            <a:endParaRPr lang="en-US" sz="1100" dirty="0">
              <a:solidFill>
                <a:srgbClr val="8B95A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8B95A3"/>
                </a:solidFill>
                <a:latin typeface="Calibri" pitchFamily="34" charset="0"/>
                <a:cs typeface="Calibri" pitchFamily="34" charset="-120"/>
              </a:rPr>
              <a:t>Assisted / Standard / Hard </a:t>
            </a:r>
            <a:r>
              <a:rPr lang="en-US" sz="1100" dirty="0" err="1">
                <a:solidFill>
                  <a:srgbClr val="8B95A3"/>
                </a:solidFill>
                <a:latin typeface="Calibri" pitchFamily="34" charset="0"/>
                <a:cs typeface="Calibri" pitchFamily="34" charset="-120"/>
              </a:rPr>
              <a:t>のうちから選択し、実務経験レベルに応じた演習を提供</a:t>
            </a:r>
            <a:endParaRPr lang="en-US" sz="1100" dirty="0"/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017FC85D-6820-6BAA-7B40-B808FD6D754F}"/>
              </a:ext>
            </a:extLst>
          </p:cNvPr>
          <p:cNvSpPr/>
          <p:nvPr/>
        </p:nvSpPr>
        <p:spPr>
          <a:xfrm>
            <a:off x="6142886" y="1742883"/>
            <a:ext cx="2344479" cy="2386690"/>
          </a:xfrm>
          <a:prstGeom prst="rect">
            <a:avLst/>
          </a:prstGeom>
          <a:solidFill>
            <a:srgbClr val="252D37"/>
          </a:solidFill>
          <a:ln w="19050">
            <a:solidFill>
              <a:srgbClr val="7AA2F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F56C781A-4F19-9938-BC42-A080734F26D0}"/>
              </a:ext>
            </a:extLst>
          </p:cNvPr>
          <p:cNvSpPr/>
          <p:nvPr/>
        </p:nvSpPr>
        <p:spPr>
          <a:xfrm>
            <a:off x="6283382" y="1776937"/>
            <a:ext cx="2021103" cy="3409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 err="1" b="1"/>
              <a:t>対応方針の選択</a:t>
            </a:r>
            <a:endParaRPr lang="en-US" sz="1200" dirty="0"/>
          </a:p>
        </p:txBody>
      </p:sp>
      <p:sp>
        <p:nvSpPr>
          <p:cNvPr id="2" name="Text 8">
            <a:extLst>
              <a:ext uri="{FF2B5EF4-FFF2-40B4-BE49-F238E27FC236}">
                <a16:creationId xmlns:a16="http://schemas.microsoft.com/office/drawing/2014/main" id="{0DEBB53B-AEE7-9F09-6501-2CFD1EA63290}"/>
              </a:ext>
            </a:extLst>
          </p:cNvPr>
          <p:cNvSpPr/>
          <p:nvPr/>
        </p:nvSpPr>
        <p:spPr>
          <a:xfrm>
            <a:off x="726882" y="2117892"/>
            <a:ext cx="2203983" cy="1704779"/>
          </a:xfrm>
          <a:prstGeom prst="rect">
            <a:avLst/>
          </a:prstGeom>
          <a:noFill/>
          <a:ln/>
        </p:spPr>
        <p:txBody>
          <a:bodyPr wrap="square" rtlCol="0" anchor="t" tIns="109728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複数の演習シナリオ搭載により、実際の現場に必要な対応力を養成</a:t>
            </a:r>
            <a:endParaRPr lang="en-US" sz="1100" dirty="0">
              <a:solidFill>
                <a:srgbClr val="8B95A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100" dirty="0">
              <a:solidFill>
                <a:srgbClr val="8B95A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8B95A3"/>
                </a:solidFill>
                <a:latin typeface="Calibri" pitchFamily="34" charset="0"/>
                <a:cs typeface="Calibri" pitchFamily="34" charset="-120"/>
              </a:rPr>
              <a:t>シナリオ追加（現在は5つ搭載）により、汎用的な演習エンジンにアップデート</a:t>
            </a:r>
            <a:endParaRPr lang="en-US" sz="1100" dirty="0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EC9CEBE5-0198-3F8C-60DC-6A8365EF23F6}"/>
              </a:ext>
            </a:extLst>
          </p:cNvPr>
          <p:cNvSpPr/>
          <p:nvPr/>
        </p:nvSpPr>
        <p:spPr>
          <a:xfrm>
            <a:off x="6213135" y="2117891"/>
            <a:ext cx="2203983" cy="1704779"/>
          </a:xfrm>
          <a:prstGeom prst="rect">
            <a:avLst/>
          </a:prstGeom>
          <a:noFill/>
          <a:ln/>
        </p:spPr>
        <p:txBody>
          <a:bodyPr wrap="square" rtlCol="0" anchor="t" tIns="109728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業務継続や被害最小化など、優先する対応方針を選択可能</a:t>
            </a:r>
            <a:endParaRPr lang="en-US" sz="1100" dirty="0">
              <a:solidFill>
                <a:srgbClr val="8B95A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100" dirty="0">
              <a:solidFill>
                <a:srgbClr val="8B95A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rgbClr val="8B95A3"/>
                </a:solidFill>
                <a:latin typeface="Calibri" pitchFamily="34" charset="0"/>
                <a:cs typeface="Calibri" pitchFamily="34" charset="-120"/>
              </a:rPr>
              <a:t>選択した対応方針によって採点の評価基準が変更</a:t>
            </a:r>
            <a:endParaRPr lang="en-US" sz="1100" dirty="0">
              <a:solidFill>
                <a:srgbClr val="8B95A3"/>
              </a:solidFill>
              <a:latin typeface="Calibri" pitchFamily="34" charset="0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solidFill>
                <a:srgbClr val="8B95A3"/>
              </a:solidFill>
              <a:latin typeface="Calibri" pitchFamily="34" charset="0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rgbClr val="8B95A3"/>
                </a:solidFill>
                <a:latin typeface="Calibri" pitchFamily="34" charset="0"/>
                <a:cs typeface="Calibri" pitchFamily="34" charset="-120"/>
              </a:rPr>
              <a:t>単一な正解を目指す演習ではなく、現場で求められる正解を考える演習に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96788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>
          <a:extLst>
            <a:ext uri="{FF2B5EF4-FFF2-40B4-BE49-F238E27FC236}">
              <a16:creationId xmlns:a16="http://schemas.microsoft.com/office/drawing/2014/main" id="{085D3E32-F028-F96E-761F-3FAB92903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11">
            <a:extLst>
              <a:ext uri="{FF2B5EF4-FFF2-40B4-BE49-F238E27FC236}">
                <a16:creationId xmlns:a16="http://schemas.microsoft.com/office/drawing/2014/main" id="{75D3F5A6-2C7B-1354-41AD-752273CA3C51}"/>
              </a:ext>
            </a:extLst>
          </p:cNvPr>
          <p:cNvGrpSpPr/>
          <p:nvPr/>
        </p:nvGrpSpPr>
        <p:grpSpPr>
          <a:xfrm>
            <a:off x="0" y="0"/>
            <a:ext cx="9144000" cy="5143500"/>
            <a:chOff x="0" y="0"/>
            <a:chExt cx="24384000" cy="13716000"/>
          </a:xfrm>
        </p:grpSpPr>
        <p:sp>
          <p:nvSpPr>
            <p:cNvPr id="58" name="Google Shape;58;p11">
              <a:extLst>
                <a:ext uri="{FF2B5EF4-FFF2-40B4-BE49-F238E27FC236}">
                  <a16:creationId xmlns:a16="http://schemas.microsoft.com/office/drawing/2014/main" id="{BA18833F-33BB-ADB5-638D-00FC100D5F9A}"/>
                </a:ext>
              </a:extLst>
            </p:cNvPr>
            <p:cNvSpPr/>
            <p:nvPr/>
          </p:nvSpPr>
          <p:spPr>
            <a:xfrm rot="5400000">
              <a:off x="8503696" y="-8503696"/>
              <a:ext cx="7376608" cy="24384000"/>
            </a:xfrm>
            <a:custGeom>
              <a:avLst/>
              <a:gdLst/>
              <a:ahLst/>
              <a:cxnLst/>
              <a:rect l="l" t="t" r="r" b="b"/>
              <a:pathLst>
                <a:path w="7376608" h="24384000" extrusionOk="0">
                  <a:moveTo>
                    <a:pt x="0" y="0"/>
                  </a:moveTo>
                  <a:lnTo>
                    <a:pt x="7376608" y="0"/>
                  </a:lnTo>
                  <a:lnTo>
                    <a:pt x="7376608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l="-25548" r="-205007"/>
              </a:stretch>
            </a:blipFill>
            <a:ln>
              <a:noFill/>
            </a:ln>
          </p:spPr>
          <p:txBody>
            <a:bodyPr/>
            <a:lstStyle/>
            <a:p>
              <a:endParaRPr lang="ja-JP" altLang="en-US" sz="900"/>
            </a:p>
          </p:txBody>
        </p:sp>
        <p:sp>
          <p:nvSpPr>
            <p:cNvPr id="59" name="Google Shape;59;p11">
              <a:extLst>
                <a:ext uri="{FF2B5EF4-FFF2-40B4-BE49-F238E27FC236}">
                  <a16:creationId xmlns:a16="http://schemas.microsoft.com/office/drawing/2014/main" id="{72935F6E-CE82-B5BE-2481-F4BD8659D61A}"/>
                </a:ext>
              </a:extLst>
            </p:cNvPr>
            <p:cNvSpPr/>
            <p:nvPr/>
          </p:nvSpPr>
          <p:spPr>
            <a:xfrm rot="5400000" flipH="1">
              <a:off x="9022304" y="-1645696"/>
              <a:ext cx="6339392" cy="24384000"/>
            </a:xfrm>
            <a:custGeom>
              <a:avLst/>
              <a:gdLst/>
              <a:ahLst/>
              <a:cxnLst/>
              <a:rect l="l" t="t" r="r" b="b"/>
              <a:pathLst>
                <a:path w="6339392" h="24384000" extrusionOk="0">
                  <a:moveTo>
                    <a:pt x="0" y="24384000"/>
                  </a:moveTo>
                  <a:lnTo>
                    <a:pt x="6339392" y="24384000"/>
                  </a:lnTo>
                  <a:lnTo>
                    <a:pt x="6339392" y="0"/>
                  </a:lnTo>
                  <a:lnTo>
                    <a:pt x="0" y="0"/>
                  </a:lnTo>
                  <a:lnTo>
                    <a:pt x="0" y="2438400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l="-29726" r="-254888"/>
              </a:stretch>
            </a:blipFill>
            <a:ln>
              <a:noFill/>
            </a:ln>
          </p:spPr>
          <p:txBody>
            <a:bodyPr/>
            <a:lstStyle/>
            <a:p>
              <a:endParaRPr lang="ja-JP" altLang="en-US" sz="900"/>
            </a:p>
          </p:txBody>
        </p:sp>
      </p:grpSp>
      <p:grpSp>
        <p:nvGrpSpPr>
          <p:cNvPr id="60" name="Google Shape;60;p11">
            <a:extLst>
              <a:ext uri="{FF2B5EF4-FFF2-40B4-BE49-F238E27FC236}">
                <a16:creationId xmlns:a16="http://schemas.microsoft.com/office/drawing/2014/main" id="{48B5C71C-6163-7B9D-39CC-072B29C8430D}"/>
              </a:ext>
            </a:extLst>
          </p:cNvPr>
          <p:cNvGrpSpPr/>
          <p:nvPr/>
        </p:nvGrpSpPr>
        <p:grpSpPr>
          <a:xfrm>
            <a:off x="385139" y="399016"/>
            <a:ext cx="8385542" cy="4387004"/>
            <a:chOff x="0" y="-47625"/>
            <a:chExt cx="4417075" cy="2310850"/>
          </a:xfrm>
        </p:grpSpPr>
        <p:sp>
          <p:nvSpPr>
            <p:cNvPr id="61" name="Google Shape;61;p11">
              <a:extLst>
                <a:ext uri="{FF2B5EF4-FFF2-40B4-BE49-F238E27FC236}">
                  <a16:creationId xmlns:a16="http://schemas.microsoft.com/office/drawing/2014/main" id="{4FA3541E-C672-EEFC-3F9E-333D4FAFDEE9}"/>
                </a:ext>
              </a:extLst>
            </p:cNvPr>
            <p:cNvSpPr/>
            <p:nvPr/>
          </p:nvSpPr>
          <p:spPr>
            <a:xfrm>
              <a:off x="0" y="0"/>
              <a:ext cx="4417075" cy="2263225"/>
            </a:xfrm>
            <a:custGeom>
              <a:avLst/>
              <a:gdLst/>
              <a:ahLst/>
              <a:cxnLst/>
              <a:rect l="l" t="t" r="r" b="b"/>
              <a:pathLst>
                <a:path w="4417075" h="2263225" extrusionOk="0">
                  <a:moveTo>
                    <a:pt x="0" y="0"/>
                  </a:moveTo>
                  <a:lnTo>
                    <a:pt x="4417075" y="0"/>
                  </a:lnTo>
                  <a:lnTo>
                    <a:pt x="4417075" y="2263225"/>
                  </a:lnTo>
                  <a:lnTo>
                    <a:pt x="0" y="226322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ja-JP" altLang="en-US" sz="900"/>
            </a:p>
          </p:txBody>
        </p:sp>
        <p:sp>
          <p:nvSpPr>
            <p:cNvPr id="62" name="Google Shape;62;p11">
              <a:extLst>
                <a:ext uri="{FF2B5EF4-FFF2-40B4-BE49-F238E27FC236}">
                  <a16:creationId xmlns:a16="http://schemas.microsoft.com/office/drawing/2014/main" id="{5EDE8F64-F29B-2A11-2751-DD9BA36CD5D3}"/>
                </a:ext>
              </a:extLst>
            </p:cNvPr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algn="ctr">
                <a:lnSpc>
                  <a:spcPct val="186611"/>
                </a:lnSpc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4" name="Google Shape;64;p11">
            <a:extLst>
              <a:ext uri="{FF2B5EF4-FFF2-40B4-BE49-F238E27FC236}">
                <a16:creationId xmlns:a16="http://schemas.microsoft.com/office/drawing/2014/main" id="{B4B8422D-F467-75FF-370A-6CFE1773B462}"/>
              </a:ext>
            </a:extLst>
          </p:cNvPr>
          <p:cNvSpPr txBox="1"/>
          <p:nvPr/>
        </p:nvSpPr>
        <p:spPr>
          <a:xfrm>
            <a:off x="779281" y="679537"/>
            <a:ext cx="7435171" cy="646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2"/>
              </a:lnSpc>
            </a:pPr>
            <a:r>
              <a:rPr lang="en-US" sz="3499" b="1" dirty="0" err="1">
                <a:solidFill>
                  <a:srgbClr val="FFFFFF"/>
                </a:solidFill>
                <a:latin typeface="Archivo Black"/>
                <a:sym typeface="Archivo Black"/>
              </a:rPr>
              <a:t>遊び方</a:t>
            </a:r>
            <a:endParaRPr sz="900" b="1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B32D393-9288-760A-6FAC-3BEC20E7C95D}"/>
              </a:ext>
            </a:extLst>
          </p:cNvPr>
          <p:cNvSpPr/>
          <p:nvPr/>
        </p:nvSpPr>
        <p:spPr>
          <a:xfrm>
            <a:off x="779281" y="1311308"/>
            <a:ext cx="1828800" cy="45720"/>
          </a:xfrm>
          <a:prstGeom prst="rect">
            <a:avLst/>
          </a:prstGeom>
          <a:solidFill>
            <a:srgbClr val="7AA2F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13940FE5-9C9C-425B-7F3A-CEF6F8813543}"/>
              </a:ext>
            </a:extLst>
          </p:cNvPr>
          <p:cNvSpPr/>
          <p:nvPr/>
        </p:nvSpPr>
        <p:spPr>
          <a:xfrm>
            <a:off x="457200" y="1463040"/>
            <a:ext cx="8229600" cy="685800"/>
          </a:xfrm>
          <a:prstGeom prst="rect">
            <a:avLst/>
          </a:prstGeom>
          <a:solidFill>
            <a:srgbClr val="252D37"/>
          </a:solidFill>
          <a:ln w="12700">
            <a:solidFill>
              <a:srgbClr val="7AA2F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CFF1FF1F-6EF7-B1D0-D056-8BD337462FFE}"/>
              </a:ext>
            </a:extLst>
          </p:cNvPr>
          <p:cNvSpPr/>
          <p:nvPr/>
        </p:nvSpPr>
        <p:spPr>
          <a:xfrm>
            <a:off x="640080" y="1668780"/>
            <a:ext cx="154305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1100" b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　　</a:t>
            </a:r>
            <a:r>
              <a:rPr lang="en-US" sz="1100" b="1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演習の設定選択</a:t>
            </a:r>
            <a:endParaRPr lang="en-US" sz="110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267C095F-F879-4A8F-50AC-074EBBD87A81}"/>
              </a:ext>
            </a:extLst>
          </p:cNvPr>
          <p:cNvSpPr/>
          <p:nvPr/>
        </p:nvSpPr>
        <p:spPr>
          <a:xfrm>
            <a:off x="2606040" y="15316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演習するシナリオ・対応方針・アシストレベル</a:t>
            </a:r>
            <a:r>
              <a:rPr lang="en-US" sz="100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の3つを選択</a:t>
            </a:r>
            <a:endParaRPr lang="en-US" sz="1000" dirty="0"/>
          </a:p>
        </p:txBody>
      </p:sp>
      <p:sp>
        <p:nvSpPr>
          <p:cNvPr id="16" name="Shape 6">
            <a:extLst>
              <a:ext uri="{FF2B5EF4-FFF2-40B4-BE49-F238E27FC236}">
                <a16:creationId xmlns:a16="http://schemas.microsoft.com/office/drawing/2014/main" id="{4F3F5C61-D7BF-752A-F2DE-4237765DE557}"/>
              </a:ext>
            </a:extLst>
          </p:cNvPr>
          <p:cNvSpPr/>
          <p:nvPr/>
        </p:nvSpPr>
        <p:spPr>
          <a:xfrm>
            <a:off x="457200" y="2651761"/>
            <a:ext cx="8229600" cy="685800"/>
          </a:xfrm>
          <a:prstGeom prst="rect">
            <a:avLst/>
          </a:prstGeom>
          <a:solidFill>
            <a:srgbClr val="252D37"/>
          </a:solidFill>
          <a:ln w="12700">
            <a:solidFill>
              <a:srgbClr val="7AA2F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49276B67-F59E-93AA-45E0-22F6B67A9035}"/>
              </a:ext>
            </a:extLst>
          </p:cNvPr>
          <p:cNvSpPr/>
          <p:nvPr/>
        </p:nvSpPr>
        <p:spPr>
          <a:xfrm>
            <a:off x="640079" y="2857500"/>
            <a:ext cx="200348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1100" b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　　</a:t>
            </a:r>
            <a:r>
              <a:rPr lang="en-US" sz="1100" b="1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インシデント対応実施</a:t>
            </a:r>
            <a:endParaRPr lang="en-US" sz="1100" dirty="0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9F16D4DD-B511-9214-BB44-74CD07EC2F4D}"/>
              </a:ext>
            </a:extLst>
          </p:cNvPr>
          <p:cNvSpPr/>
          <p:nvPr/>
        </p:nvSpPr>
        <p:spPr>
          <a:xfrm>
            <a:off x="2606040" y="27203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対応方針に従って、攻撃の調査・侵害範囲の特定・その後の対応を実施</a:t>
            </a:r>
            <a:endParaRPr lang="en-US" sz="1000" dirty="0">
              <a:solidFill>
                <a:srgbClr val="8B95A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</a:t>
            </a:r>
            <a:r>
              <a:rPr lang="en-US" sz="1000" dirty="0" err="1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実行可能なアクション」から次に行う操作を選択</a:t>
            </a:r>
            <a:endParaRPr lang="en-US" sz="1000" dirty="0"/>
          </a:p>
        </p:txBody>
      </p:sp>
      <p:sp>
        <p:nvSpPr>
          <p:cNvPr id="20" name="Shape 10">
            <a:extLst>
              <a:ext uri="{FF2B5EF4-FFF2-40B4-BE49-F238E27FC236}">
                <a16:creationId xmlns:a16="http://schemas.microsoft.com/office/drawing/2014/main" id="{E9CBFEA1-E969-0457-C1C0-BEC4916C55F5}"/>
              </a:ext>
            </a:extLst>
          </p:cNvPr>
          <p:cNvSpPr/>
          <p:nvPr/>
        </p:nvSpPr>
        <p:spPr>
          <a:xfrm>
            <a:off x="457200" y="3854309"/>
            <a:ext cx="8229600" cy="685800"/>
          </a:xfrm>
          <a:prstGeom prst="rect">
            <a:avLst/>
          </a:prstGeom>
          <a:solidFill>
            <a:srgbClr val="252D37"/>
          </a:solidFill>
          <a:ln w="12700">
            <a:solidFill>
              <a:srgbClr val="7AA2F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1">
            <a:extLst>
              <a:ext uri="{FF2B5EF4-FFF2-40B4-BE49-F238E27FC236}">
                <a16:creationId xmlns:a16="http://schemas.microsoft.com/office/drawing/2014/main" id="{2196D177-5F4D-601F-E7EB-7BE4CA2553B1}"/>
              </a:ext>
            </a:extLst>
          </p:cNvPr>
          <p:cNvSpPr/>
          <p:nvPr/>
        </p:nvSpPr>
        <p:spPr>
          <a:xfrm>
            <a:off x="640080" y="4064507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        </a:t>
            </a:r>
            <a:r>
              <a:rPr lang="en-US" sz="1100" b="1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講評の確認</a:t>
            </a:r>
            <a:endParaRPr lang="en-US" sz="1100" dirty="0"/>
          </a:p>
        </p:txBody>
      </p:sp>
      <p:sp>
        <p:nvSpPr>
          <p:cNvPr id="22" name="Text 12">
            <a:extLst>
              <a:ext uri="{FF2B5EF4-FFF2-40B4-BE49-F238E27FC236}">
                <a16:creationId xmlns:a16="http://schemas.microsoft.com/office/drawing/2014/main" id="{C3177109-2C05-7338-21ED-7C61C921C55F}"/>
              </a:ext>
            </a:extLst>
          </p:cNvPr>
          <p:cNvSpPr/>
          <p:nvPr/>
        </p:nvSpPr>
        <p:spPr>
          <a:xfrm>
            <a:off x="2606040" y="3927348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採点されたスコアや選択した演習シナリオの真相を確認</a:t>
            </a:r>
            <a:endParaRPr lang="en-US" sz="1000" dirty="0"/>
          </a:p>
        </p:txBody>
      </p:sp>
      <p:sp>
        <p:nvSpPr>
          <p:cNvPr id="26" name="山形 25">
            <a:extLst>
              <a:ext uri="{FF2B5EF4-FFF2-40B4-BE49-F238E27FC236}">
                <a16:creationId xmlns:a16="http://schemas.microsoft.com/office/drawing/2014/main" id="{DDF7CB10-6A06-C029-F881-DAFE8ECBABDB}"/>
              </a:ext>
            </a:extLst>
          </p:cNvPr>
          <p:cNvSpPr/>
          <p:nvPr/>
        </p:nvSpPr>
        <p:spPr>
          <a:xfrm rot="5400000">
            <a:off x="4417823" y="1915636"/>
            <a:ext cx="308354" cy="971652"/>
          </a:xfrm>
          <a:prstGeom prst="chevron">
            <a:avLst/>
          </a:prstGeom>
          <a:solidFill>
            <a:srgbClr val="7AA2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9" name="山形 28">
            <a:extLst>
              <a:ext uri="{FF2B5EF4-FFF2-40B4-BE49-F238E27FC236}">
                <a16:creationId xmlns:a16="http://schemas.microsoft.com/office/drawing/2014/main" id="{8F5DB722-0CD9-0769-FD72-C7A56CC6053D}"/>
              </a:ext>
            </a:extLst>
          </p:cNvPr>
          <p:cNvSpPr/>
          <p:nvPr/>
        </p:nvSpPr>
        <p:spPr>
          <a:xfrm rot="5400000">
            <a:off x="4417823" y="3112293"/>
            <a:ext cx="308354" cy="971652"/>
          </a:xfrm>
          <a:prstGeom prst="chevron">
            <a:avLst/>
          </a:prstGeom>
          <a:solidFill>
            <a:srgbClr val="7AA2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31" name="Shape 3">
            <a:extLst>
              <a:ext uri="{FF2B5EF4-FFF2-40B4-BE49-F238E27FC236}">
                <a16:creationId xmlns:a16="http://schemas.microsoft.com/office/drawing/2014/main" id="{E00AD7A0-76F2-1FFB-D7A1-B8F823392308}"/>
              </a:ext>
            </a:extLst>
          </p:cNvPr>
          <p:cNvSpPr/>
          <p:nvPr/>
        </p:nvSpPr>
        <p:spPr>
          <a:xfrm>
            <a:off x="632977" y="1659636"/>
            <a:ext cx="292608" cy="292608"/>
          </a:xfrm>
          <a:prstGeom prst="ellipse">
            <a:avLst/>
          </a:prstGeom>
          <a:solidFill>
            <a:srgbClr val="7AA2F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2" name="Text 4">
            <a:extLst>
              <a:ext uri="{FF2B5EF4-FFF2-40B4-BE49-F238E27FC236}">
                <a16:creationId xmlns:a16="http://schemas.microsoft.com/office/drawing/2014/main" id="{3CFF39BA-DF54-04F7-6EB8-E88F058E36EF}"/>
              </a:ext>
            </a:extLst>
          </p:cNvPr>
          <p:cNvSpPr/>
          <p:nvPr/>
        </p:nvSpPr>
        <p:spPr>
          <a:xfrm>
            <a:off x="632977" y="165963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3" name="Shape 3">
            <a:extLst>
              <a:ext uri="{FF2B5EF4-FFF2-40B4-BE49-F238E27FC236}">
                <a16:creationId xmlns:a16="http://schemas.microsoft.com/office/drawing/2014/main" id="{25590034-595D-9A58-6616-7870A2305206}"/>
              </a:ext>
            </a:extLst>
          </p:cNvPr>
          <p:cNvSpPr/>
          <p:nvPr/>
        </p:nvSpPr>
        <p:spPr>
          <a:xfrm>
            <a:off x="632977" y="2848356"/>
            <a:ext cx="292608" cy="292608"/>
          </a:xfrm>
          <a:prstGeom prst="ellipse">
            <a:avLst/>
          </a:prstGeom>
          <a:solidFill>
            <a:srgbClr val="7AA2F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4" name="Text 4">
            <a:extLst>
              <a:ext uri="{FF2B5EF4-FFF2-40B4-BE49-F238E27FC236}">
                <a16:creationId xmlns:a16="http://schemas.microsoft.com/office/drawing/2014/main" id="{006DF364-5427-150C-3899-3BB882716F83}"/>
              </a:ext>
            </a:extLst>
          </p:cNvPr>
          <p:cNvSpPr/>
          <p:nvPr/>
        </p:nvSpPr>
        <p:spPr>
          <a:xfrm>
            <a:off x="632977" y="28483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5" name="Shape 3">
            <a:extLst>
              <a:ext uri="{FF2B5EF4-FFF2-40B4-BE49-F238E27FC236}">
                <a16:creationId xmlns:a16="http://schemas.microsoft.com/office/drawing/2014/main" id="{FBF836BF-E8FC-0805-7097-A55DD33D8E78}"/>
              </a:ext>
            </a:extLst>
          </p:cNvPr>
          <p:cNvSpPr/>
          <p:nvPr/>
        </p:nvSpPr>
        <p:spPr>
          <a:xfrm>
            <a:off x="632977" y="4055363"/>
            <a:ext cx="292608" cy="292608"/>
          </a:xfrm>
          <a:prstGeom prst="ellipse">
            <a:avLst/>
          </a:prstGeom>
          <a:solidFill>
            <a:srgbClr val="7AA2F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6" name="Text 4">
            <a:extLst>
              <a:ext uri="{FF2B5EF4-FFF2-40B4-BE49-F238E27FC236}">
                <a16:creationId xmlns:a16="http://schemas.microsoft.com/office/drawing/2014/main" id="{A1854ADF-5304-A3EE-BD02-EEAF7916696E}"/>
              </a:ext>
            </a:extLst>
          </p:cNvPr>
          <p:cNvSpPr/>
          <p:nvPr/>
        </p:nvSpPr>
        <p:spPr>
          <a:xfrm>
            <a:off x="632977" y="4055363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833876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>
          <a:extLst>
            <a:ext uri="{FF2B5EF4-FFF2-40B4-BE49-F238E27FC236}">
              <a16:creationId xmlns:a16="http://schemas.microsoft.com/office/drawing/2014/main" id="{CB8C0CB3-05B3-FC9F-A699-59D7D817C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11">
            <a:extLst>
              <a:ext uri="{FF2B5EF4-FFF2-40B4-BE49-F238E27FC236}">
                <a16:creationId xmlns:a16="http://schemas.microsoft.com/office/drawing/2014/main" id="{9F3FA7F3-D355-2F15-4D34-95DDCD73CFE0}"/>
              </a:ext>
            </a:extLst>
          </p:cNvPr>
          <p:cNvGrpSpPr/>
          <p:nvPr/>
        </p:nvGrpSpPr>
        <p:grpSpPr>
          <a:xfrm>
            <a:off x="0" y="0"/>
            <a:ext cx="9144000" cy="5143500"/>
            <a:chOff x="0" y="0"/>
            <a:chExt cx="24384000" cy="13716000"/>
          </a:xfrm>
        </p:grpSpPr>
        <p:sp>
          <p:nvSpPr>
            <p:cNvPr id="58" name="Google Shape;58;p11">
              <a:extLst>
                <a:ext uri="{FF2B5EF4-FFF2-40B4-BE49-F238E27FC236}">
                  <a16:creationId xmlns:a16="http://schemas.microsoft.com/office/drawing/2014/main" id="{26698F9E-32D7-F80C-0DCC-F02E1BDADA4B}"/>
                </a:ext>
              </a:extLst>
            </p:cNvPr>
            <p:cNvSpPr/>
            <p:nvPr/>
          </p:nvSpPr>
          <p:spPr>
            <a:xfrm rot="5400000">
              <a:off x="8503696" y="-8503696"/>
              <a:ext cx="7376608" cy="24384000"/>
            </a:xfrm>
            <a:custGeom>
              <a:avLst/>
              <a:gdLst/>
              <a:ahLst/>
              <a:cxnLst/>
              <a:rect l="l" t="t" r="r" b="b"/>
              <a:pathLst>
                <a:path w="7376608" h="24384000" extrusionOk="0">
                  <a:moveTo>
                    <a:pt x="0" y="0"/>
                  </a:moveTo>
                  <a:lnTo>
                    <a:pt x="7376608" y="0"/>
                  </a:lnTo>
                  <a:lnTo>
                    <a:pt x="7376608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l="-25548" r="-205007"/>
              </a:stretch>
            </a:blipFill>
            <a:ln>
              <a:noFill/>
            </a:ln>
          </p:spPr>
          <p:txBody>
            <a:bodyPr/>
            <a:lstStyle/>
            <a:p>
              <a:endParaRPr lang="ja-JP" altLang="en-US" sz="900"/>
            </a:p>
          </p:txBody>
        </p:sp>
        <p:sp>
          <p:nvSpPr>
            <p:cNvPr id="59" name="Google Shape;59;p11">
              <a:extLst>
                <a:ext uri="{FF2B5EF4-FFF2-40B4-BE49-F238E27FC236}">
                  <a16:creationId xmlns:a16="http://schemas.microsoft.com/office/drawing/2014/main" id="{538C530C-D5C5-60F2-7B9C-611443592EC0}"/>
                </a:ext>
              </a:extLst>
            </p:cNvPr>
            <p:cNvSpPr/>
            <p:nvPr/>
          </p:nvSpPr>
          <p:spPr>
            <a:xfrm rot="5400000" flipH="1">
              <a:off x="9022304" y="-1645696"/>
              <a:ext cx="6339392" cy="24384000"/>
            </a:xfrm>
            <a:custGeom>
              <a:avLst/>
              <a:gdLst/>
              <a:ahLst/>
              <a:cxnLst/>
              <a:rect l="l" t="t" r="r" b="b"/>
              <a:pathLst>
                <a:path w="6339392" h="24384000" extrusionOk="0">
                  <a:moveTo>
                    <a:pt x="0" y="24384000"/>
                  </a:moveTo>
                  <a:lnTo>
                    <a:pt x="6339392" y="24384000"/>
                  </a:lnTo>
                  <a:lnTo>
                    <a:pt x="6339392" y="0"/>
                  </a:lnTo>
                  <a:lnTo>
                    <a:pt x="0" y="0"/>
                  </a:lnTo>
                  <a:lnTo>
                    <a:pt x="0" y="2438400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l="-29726" r="-254888"/>
              </a:stretch>
            </a:blipFill>
            <a:ln>
              <a:noFill/>
            </a:ln>
          </p:spPr>
          <p:txBody>
            <a:bodyPr/>
            <a:lstStyle/>
            <a:p>
              <a:endParaRPr lang="ja-JP" altLang="en-US" sz="900"/>
            </a:p>
          </p:txBody>
        </p:sp>
      </p:grpSp>
      <p:grpSp>
        <p:nvGrpSpPr>
          <p:cNvPr id="60" name="Google Shape;60;p11">
            <a:extLst>
              <a:ext uri="{FF2B5EF4-FFF2-40B4-BE49-F238E27FC236}">
                <a16:creationId xmlns:a16="http://schemas.microsoft.com/office/drawing/2014/main" id="{B8EE207B-B598-9051-7DFC-E8B3CCC8EA00}"/>
              </a:ext>
            </a:extLst>
          </p:cNvPr>
          <p:cNvGrpSpPr/>
          <p:nvPr/>
        </p:nvGrpSpPr>
        <p:grpSpPr>
          <a:xfrm>
            <a:off x="385139" y="399016"/>
            <a:ext cx="8385542" cy="4387004"/>
            <a:chOff x="0" y="-47625"/>
            <a:chExt cx="4417075" cy="2310850"/>
          </a:xfrm>
        </p:grpSpPr>
        <p:sp>
          <p:nvSpPr>
            <p:cNvPr id="61" name="Google Shape;61;p11">
              <a:extLst>
                <a:ext uri="{FF2B5EF4-FFF2-40B4-BE49-F238E27FC236}">
                  <a16:creationId xmlns:a16="http://schemas.microsoft.com/office/drawing/2014/main" id="{2BD08CAD-BE96-F41E-7A54-E4C901202B59}"/>
                </a:ext>
              </a:extLst>
            </p:cNvPr>
            <p:cNvSpPr/>
            <p:nvPr/>
          </p:nvSpPr>
          <p:spPr>
            <a:xfrm>
              <a:off x="0" y="0"/>
              <a:ext cx="4417075" cy="2263225"/>
            </a:xfrm>
            <a:custGeom>
              <a:avLst/>
              <a:gdLst/>
              <a:ahLst/>
              <a:cxnLst/>
              <a:rect l="l" t="t" r="r" b="b"/>
              <a:pathLst>
                <a:path w="4417075" h="2263225" extrusionOk="0">
                  <a:moveTo>
                    <a:pt x="0" y="0"/>
                  </a:moveTo>
                  <a:lnTo>
                    <a:pt x="4417075" y="0"/>
                  </a:lnTo>
                  <a:lnTo>
                    <a:pt x="4417075" y="2263225"/>
                  </a:lnTo>
                  <a:lnTo>
                    <a:pt x="0" y="226322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ja-JP" altLang="en-US" sz="900"/>
            </a:p>
          </p:txBody>
        </p:sp>
        <p:sp>
          <p:nvSpPr>
            <p:cNvPr id="62" name="Google Shape;62;p11">
              <a:extLst>
                <a:ext uri="{FF2B5EF4-FFF2-40B4-BE49-F238E27FC236}">
                  <a16:creationId xmlns:a16="http://schemas.microsoft.com/office/drawing/2014/main" id="{F33B35A4-FFF0-07E4-194E-F9959DBFA17F}"/>
                </a:ext>
              </a:extLst>
            </p:cNvPr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algn="ctr">
                <a:lnSpc>
                  <a:spcPct val="186611"/>
                </a:lnSpc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4" name="Google Shape;64;p11">
            <a:extLst>
              <a:ext uri="{FF2B5EF4-FFF2-40B4-BE49-F238E27FC236}">
                <a16:creationId xmlns:a16="http://schemas.microsoft.com/office/drawing/2014/main" id="{D28BE063-CA40-9E4D-40EF-893A07E1F061}"/>
              </a:ext>
            </a:extLst>
          </p:cNvPr>
          <p:cNvSpPr txBox="1"/>
          <p:nvPr/>
        </p:nvSpPr>
        <p:spPr>
          <a:xfrm>
            <a:off x="779281" y="679537"/>
            <a:ext cx="7435171" cy="646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2"/>
              </a:lnSpc>
            </a:pPr>
            <a:r>
              <a:rPr lang="en-US" sz="3499" b="1" dirty="0" err="1">
                <a:solidFill>
                  <a:srgbClr val="FFFFFF"/>
                </a:solidFill>
                <a:latin typeface="Archivo Black"/>
                <a:sym typeface="Archivo Black"/>
              </a:rPr>
              <a:t>実際のプレイ動画</a:t>
            </a:r>
            <a:endParaRPr sz="900" b="1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D06318C-864F-FE78-A8C4-5F0DD4286D15}"/>
              </a:ext>
            </a:extLst>
          </p:cNvPr>
          <p:cNvSpPr/>
          <p:nvPr/>
        </p:nvSpPr>
        <p:spPr>
          <a:xfrm>
            <a:off x="779281" y="1311308"/>
            <a:ext cx="1828800" cy="45720"/>
          </a:xfrm>
          <a:prstGeom prst="rect">
            <a:avLst/>
          </a:prstGeom>
          <a:solidFill>
            <a:srgbClr val="7AA2F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5F462B4A-7B05-476B-C73D-343379C8767D}"/>
              </a:ext>
            </a:extLst>
          </p:cNvPr>
          <p:cNvSpPr/>
          <p:nvPr/>
        </p:nvSpPr>
        <p:spPr>
          <a:xfrm>
            <a:off x="779280" y="1621970"/>
            <a:ext cx="7435171" cy="2940661"/>
          </a:xfrm>
          <a:prstGeom prst="rect">
            <a:avLst/>
          </a:prstGeom>
          <a:solidFill>
            <a:srgbClr val="191D24"/>
          </a:solidFill>
          <a:ln w="25400">
            <a:solidFill>
              <a:srgbClr val="7AA2F7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738BD095-75A9-8B41-82A4-657A0A2E7DEC}"/>
              </a:ext>
            </a:extLst>
          </p:cNvPr>
          <p:cNvSpPr/>
          <p:nvPr/>
        </p:nvSpPr>
        <p:spPr>
          <a:xfrm>
            <a:off x="947846" y="2555392"/>
            <a:ext cx="7104719" cy="3095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AA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動画挿入用スペース</a:t>
            </a:r>
            <a:endParaRPr lang="en-US" sz="1600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746FFB28-F6D1-6BDE-B86F-33C0CB4D22B9}"/>
              </a:ext>
            </a:extLst>
          </p:cNvPr>
          <p:cNvSpPr/>
          <p:nvPr/>
        </p:nvSpPr>
        <p:spPr>
          <a:xfrm>
            <a:off x="947846" y="3002394"/>
            <a:ext cx="7104719" cy="2321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PowerPoint の挿入 &gt; ビデオ で MP4 を追加してください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7855158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>
          <a:extLst>
            <a:ext uri="{FF2B5EF4-FFF2-40B4-BE49-F238E27FC236}">
              <a16:creationId xmlns:a16="http://schemas.microsoft.com/office/drawing/2014/main" id="{175FB232-3E56-6A95-7BA7-7FB346617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11">
            <a:extLst>
              <a:ext uri="{FF2B5EF4-FFF2-40B4-BE49-F238E27FC236}">
                <a16:creationId xmlns:a16="http://schemas.microsoft.com/office/drawing/2014/main" id="{4FFF9D1A-FC6D-E218-0E3E-B60F82F3166A}"/>
              </a:ext>
            </a:extLst>
          </p:cNvPr>
          <p:cNvGrpSpPr/>
          <p:nvPr/>
        </p:nvGrpSpPr>
        <p:grpSpPr>
          <a:xfrm>
            <a:off x="0" y="0"/>
            <a:ext cx="9144000" cy="5143500"/>
            <a:chOff x="0" y="0"/>
            <a:chExt cx="24384000" cy="13716000"/>
          </a:xfrm>
        </p:grpSpPr>
        <p:sp>
          <p:nvSpPr>
            <p:cNvPr id="58" name="Google Shape;58;p11">
              <a:extLst>
                <a:ext uri="{FF2B5EF4-FFF2-40B4-BE49-F238E27FC236}">
                  <a16:creationId xmlns:a16="http://schemas.microsoft.com/office/drawing/2014/main" id="{7F95EC98-B855-7291-711D-922D1DB92F0A}"/>
                </a:ext>
              </a:extLst>
            </p:cNvPr>
            <p:cNvSpPr/>
            <p:nvPr/>
          </p:nvSpPr>
          <p:spPr>
            <a:xfrm rot="5400000">
              <a:off x="8503696" y="-8503696"/>
              <a:ext cx="7376608" cy="24384000"/>
            </a:xfrm>
            <a:custGeom>
              <a:avLst/>
              <a:gdLst/>
              <a:ahLst/>
              <a:cxnLst/>
              <a:rect l="l" t="t" r="r" b="b"/>
              <a:pathLst>
                <a:path w="7376608" h="24384000" extrusionOk="0">
                  <a:moveTo>
                    <a:pt x="0" y="0"/>
                  </a:moveTo>
                  <a:lnTo>
                    <a:pt x="7376608" y="0"/>
                  </a:lnTo>
                  <a:lnTo>
                    <a:pt x="7376608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l="-25548" r="-205007"/>
              </a:stretch>
            </a:blipFill>
            <a:ln>
              <a:noFill/>
            </a:ln>
          </p:spPr>
          <p:txBody>
            <a:bodyPr/>
            <a:lstStyle/>
            <a:p>
              <a:endParaRPr lang="ja-JP" altLang="en-US" sz="900"/>
            </a:p>
          </p:txBody>
        </p:sp>
        <p:sp>
          <p:nvSpPr>
            <p:cNvPr id="59" name="Google Shape;59;p11">
              <a:extLst>
                <a:ext uri="{FF2B5EF4-FFF2-40B4-BE49-F238E27FC236}">
                  <a16:creationId xmlns:a16="http://schemas.microsoft.com/office/drawing/2014/main" id="{A457DD7F-B693-01AF-D21D-6D70D550C51D}"/>
                </a:ext>
              </a:extLst>
            </p:cNvPr>
            <p:cNvSpPr/>
            <p:nvPr/>
          </p:nvSpPr>
          <p:spPr>
            <a:xfrm rot="5400000" flipH="1">
              <a:off x="9022304" y="-1645696"/>
              <a:ext cx="6339392" cy="24384000"/>
            </a:xfrm>
            <a:custGeom>
              <a:avLst/>
              <a:gdLst/>
              <a:ahLst/>
              <a:cxnLst/>
              <a:rect l="l" t="t" r="r" b="b"/>
              <a:pathLst>
                <a:path w="6339392" h="24384000" extrusionOk="0">
                  <a:moveTo>
                    <a:pt x="0" y="24384000"/>
                  </a:moveTo>
                  <a:lnTo>
                    <a:pt x="6339392" y="24384000"/>
                  </a:lnTo>
                  <a:lnTo>
                    <a:pt x="6339392" y="0"/>
                  </a:lnTo>
                  <a:lnTo>
                    <a:pt x="0" y="0"/>
                  </a:lnTo>
                  <a:lnTo>
                    <a:pt x="0" y="2438400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l="-29726" r="-254888"/>
              </a:stretch>
            </a:blipFill>
            <a:ln>
              <a:noFill/>
            </a:ln>
          </p:spPr>
          <p:txBody>
            <a:bodyPr/>
            <a:lstStyle/>
            <a:p>
              <a:endParaRPr lang="ja-JP" altLang="en-US" sz="900"/>
            </a:p>
          </p:txBody>
        </p:sp>
      </p:grpSp>
      <p:grpSp>
        <p:nvGrpSpPr>
          <p:cNvPr id="60" name="Google Shape;60;p11">
            <a:extLst>
              <a:ext uri="{FF2B5EF4-FFF2-40B4-BE49-F238E27FC236}">
                <a16:creationId xmlns:a16="http://schemas.microsoft.com/office/drawing/2014/main" id="{3386539B-ACAB-3880-81C2-3EEAD799A697}"/>
              </a:ext>
            </a:extLst>
          </p:cNvPr>
          <p:cNvGrpSpPr/>
          <p:nvPr/>
        </p:nvGrpSpPr>
        <p:grpSpPr>
          <a:xfrm>
            <a:off x="385139" y="399016"/>
            <a:ext cx="8385542" cy="4387004"/>
            <a:chOff x="0" y="-47625"/>
            <a:chExt cx="4417075" cy="2310850"/>
          </a:xfrm>
        </p:grpSpPr>
        <p:sp>
          <p:nvSpPr>
            <p:cNvPr id="61" name="Google Shape;61;p11">
              <a:extLst>
                <a:ext uri="{FF2B5EF4-FFF2-40B4-BE49-F238E27FC236}">
                  <a16:creationId xmlns:a16="http://schemas.microsoft.com/office/drawing/2014/main" id="{128354B7-6D4F-E3DB-9928-D4A0E4E7FCB1}"/>
                </a:ext>
              </a:extLst>
            </p:cNvPr>
            <p:cNvSpPr/>
            <p:nvPr/>
          </p:nvSpPr>
          <p:spPr>
            <a:xfrm>
              <a:off x="0" y="0"/>
              <a:ext cx="4417075" cy="2263225"/>
            </a:xfrm>
            <a:custGeom>
              <a:avLst/>
              <a:gdLst/>
              <a:ahLst/>
              <a:cxnLst/>
              <a:rect l="l" t="t" r="r" b="b"/>
              <a:pathLst>
                <a:path w="4417075" h="2263225" extrusionOk="0">
                  <a:moveTo>
                    <a:pt x="0" y="0"/>
                  </a:moveTo>
                  <a:lnTo>
                    <a:pt x="4417075" y="0"/>
                  </a:lnTo>
                  <a:lnTo>
                    <a:pt x="4417075" y="2263225"/>
                  </a:lnTo>
                  <a:lnTo>
                    <a:pt x="0" y="226322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ja-JP" altLang="en-US" sz="900"/>
            </a:p>
          </p:txBody>
        </p:sp>
        <p:sp>
          <p:nvSpPr>
            <p:cNvPr id="62" name="Google Shape;62;p11">
              <a:extLst>
                <a:ext uri="{FF2B5EF4-FFF2-40B4-BE49-F238E27FC236}">
                  <a16:creationId xmlns:a16="http://schemas.microsoft.com/office/drawing/2014/main" id="{9AE84DD4-9CD1-EDDF-D805-F7851DE4A64C}"/>
                </a:ext>
              </a:extLst>
            </p:cNvPr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algn="ctr">
                <a:lnSpc>
                  <a:spcPct val="186611"/>
                </a:lnSpc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4" name="Google Shape;64;p11">
            <a:extLst>
              <a:ext uri="{FF2B5EF4-FFF2-40B4-BE49-F238E27FC236}">
                <a16:creationId xmlns:a16="http://schemas.microsoft.com/office/drawing/2014/main" id="{908CB5C5-9516-D672-7FAF-959897498789}"/>
              </a:ext>
            </a:extLst>
          </p:cNvPr>
          <p:cNvSpPr txBox="1"/>
          <p:nvPr/>
        </p:nvSpPr>
        <p:spPr>
          <a:xfrm>
            <a:off x="779281" y="679537"/>
            <a:ext cx="7435171" cy="646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2"/>
              </a:lnSpc>
            </a:pPr>
            <a:r>
              <a:rPr lang="ja-JP" altLang="en-US" sz="3499" b="1">
                <a:solidFill>
                  <a:srgbClr val="FFFFFF"/>
                </a:solidFill>
                <a:latin typeface="Archivo Black"/>
                <a:sym typeface="Archivo Black"/>
              </a:rPr>
              <a:t>採点方法</a:t>
            </a:r>
            <a:endParaRPr lang="ja-JP" altLang="en-US" sz="900" b="1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F1D3EA3-C137-A93E-90F5-213C17828C39}"/>
              </a:ext>
            </a:extLst>
          </p:cNvPr>
          <p:cNvSpPr/>
          <p:nvPr/>
        </p:nvSpPr>
        <p:spPr>
          <a:xfrm>
            <a:off x="779281" y="1311308"/>
            <a:ext cx="1828800" cy="45720"/>
          </a:xfrm>
          <a:prstGeom prst="rect">
            <a:avLst/>
          </a:prstGeom>
          <a:solidFill>
            <a:srgbClr val="7AA2F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5" name="Rectangle 64"/>
          <p:cNvSpPr/>
          <p:nvPr/>
        </p:nvSpPr>
        <p:spPr>
          <a:xfrm>
            <a:off x="658368" y="1517904"/>
            <a:ext cx="5479084" cy="365760"/>
          </a:xfrm>
          <a:prstGeom prst="rect">
            <a:avLst/>
          </a:prstGeom>
          <a:solidFill>
            <a:srgbClr val="7AA2F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58368" y="1517904"/>
            <a:ext cx="5479084" cy="36576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marL="0" indent="0" algn="ctr">
              <a:buNone/>
            </a:pPr>
            <a:r>
              <a:rPr lang="ja-JP" altLang="en-US" sz="1200" b="1">
                <a:solidFill>
                  <a:srgbClr val="12151A"/>
                </a:solidFill>
                <a:latin typeface="Calibri"/>
                <a:ea typeface="Calibri"/>
                <a:cs typeface="Calibri"/>
              </a:rPr>
              <a:t>事実認識　70%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137452" y="1517904"/>
            <a:ext cx="2348179" cy="365760"/>
          </a:xfrm>
          <a:prstGeom prst="rect">
            <a:avLst/>
          </a:prstGeom>
          <a:solidFill>
            <a:srgbClr val="252D37"/>
          </a:solidFill>
          <a:ln w="19050">
            <a:solidFill>
              <a:srgbClr val="7AA2F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137452" y="1517904"/>
            <a:ext cx="2348179" cy="36576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marL="0" indent="0" algn="ctr">
              <a:buNone/>
            </a:pPr>
            <a:r>
              <a:rPr lang="ja-JP" alt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方針適合　30%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58368" y="2029968"/>
            <a:ext cx="3822191" cy="1993392"/>
          </a:xfrm>
          <a:prstGeom prst="rect">
            <a:avLst/>
          </a:prstGeom>
          <a:solidFill>
            <a:srgbClr val="252D37"/>
          </a:solidFill>
          <a:ln w="19050">
            <a:solidFill>
              <a:srgbClr val="7AA2F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795528" y="2075688"/>
            <a:ext cx="3547872" cy="33832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marL="0" indent="0">
              <a:buNone/>
            </a:pPr>
            <a:r>
              <a:rPr lang="ja-JP" alt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事実認識</a:t>
            </a:r>
            <a:r>
              <a:rPr lang="ja-JP" altLang="en-US" sz="1000" b="0">
                <a:solidFill>
                  <a:srgbClr val="8B95A3"/>
                </a:solidFill>
                <a:latin typeface="Calibri"/>
                <a:ea typeface="Calibri"/>
                <a:cs typeface="Calibri"/>
              </a:rPr>
              <a:t>　方針に依存しない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95528" y="2459736"/>
            <a:ext cx="3547872" cy="149047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171450" indent="-171450">
              <a:buFont typeface="Arial"/>
              <a:buChar char="•"/>
            </a:pPr>
            <a:r>
              <a:rPr lang="ja-JP" altLang="en-US" sz="1050" b="0">
                <a:solidFill>
                  <a:srgbClr val="8B95A3"/>
                </a:solidFill>
                <a:latin typeface="Calibri"/>
                <a:ea typeface="Calibri"/>
                <a:cs typeface="Calibri"/>
              </a:rPr>
              <a:t>適合率 20%：名指しのうち、当たっていた割合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ja-JP" altLang="en-US" sz="1050" b="0">
                <a:solidFill>
                  <a:srgbClr val="8B95A3"/>
                </a:solidFill>
                <a:latin typeface="Calibri"/>
                <a:ea typeface="Calibri"/>
                <a:cs typeface="Calibri"/>
              </a:rPr>
              <a:t>再現率 20%：実際の侵害のうち、名指しできた割合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ja-JP" altLang="en-US" sz="1050" b="0">
                <a:solidFill>
                  <a:srgbClr val="8B95A3"/>
                </a:solidFill>
                <a:latin typeface="Calibri"/>
                <a:ea typeface="Calibri"/>
                <a:cs typeface="Calibri"/>
              </a:rPr>
              <a:t>名指しの裏付け 20%：判断時点で、偽の手がかりではない証拠を持っていたか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ja-JP" altLang="en-US" sz="1050" b="0">
                <a:solidFill>
                  <a:srgbClr val="8B95A3"/>
                </a:solidFill>
                <a:latin typeface="Calibri"/>
                <a:ea typeface="Calibri"/>
                <a:cs typeface="Calibri"/>
              </a:rPr>
              <a:t>未解消論点 40%：判断時点で、重要な論点が解けていたか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63440" y="2029968"/>
            <a:ext cx="3822191" cy="1993392"/>
          </a:xfrm>
          <a:prstGeom prst="rect">
            <a:avLst/>
          </a:prstGeom>
          <a:solidFill>
            <a:srgbClr val="252D37"/>
          </a:solidFill>
          <a:ln w="19050">
            <a:solidFill>
              <a:srgbClr val="7AA2F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800600" y="2075688"/>
            <a:ext cx="3547872" cy="33832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marL="0" indent="0">
              <a:buNone/>
            </a:pPr>
            <a:r>
              <a:rPr lang="ja-JP" alt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方針適合</a:t>
            </a:r>
            <a:r>
              <a:rPr lang="ja-JP" altLang="en-US" sz="1000" b="0">
                <a:solidFill>
                  <a:srgbClr val="8B95A3"/>
                </a:solidFill>
                <a:latin typeface="Calibri"/>
                <a:ea typeface="Calibri"/>
                <a:cs typeface="Calibri"/>
              </a:rPr>
              <a:t>　方針に依存する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800600" y="2459736"/>
            <a:ext cx="3547872" cy="119006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171450" indent="-171450">
              <a:buFont typeface="Arial"/>
              <a:buChar char="•"/>
            </a:pPr>
            <a:r>
              <a:rPr lang="ja-JP" altLang="en-US" sz="1050" b="0">
                <a:solidFill>
                  <a:srgbClr val="8B95A3"/>
                </a:solidFill>
                <a:latin typeface="Calibri"/>
                <a:ea typeface="Calibri"/>
                <a:cs typeface="Calibri"/>
              </a:rPr>
              <a:t>被害額・業務影響・証拠保全・封じ込めの完全度を、方針ごとの重みで評価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ja-JP" altLang="en-US" sz="1050" b="0">
                <a:solidFill>
                  <a:srgbClr val="8B95A3"/>
                </a:solidFill>
                <a:latin typeface="Calibri"/>
                <a:ea typeface="Calibri"/>
                <a:cs typeface="Calibri"/>
              </a:rPr>
              <a:t>例：「シナリオ：深夜のファイルサーバ異常」では、業務継続最優先は業務影響、証拠保全最優先は証拠保全、被害最小化最優先は被害額を最も重く見る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ja-JP" altLang="en-US" sz="1050" b="0">
                <a:solidFill>
                  <a:srgbClr val="8B95A3"/>
                </a:solidFill>
                <a:latin typeface="Calibri"/>
                <a:ea typeface="Calibri"/>
                <a:cs typeface="Calibri"/>
              </a:rPr>
              <a:t>方針の制約に違反すると、1件ごとに評価が下がる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58368" y="4151376"/>
            <a:ext cx="7827264" cy="384048"/>
          </a:xfrm>
          <a:prstGeom prst="rect">
            <a:avLst/>
          </a:prstGeom>
          <a:solidFill>
            <a:srgbClr val="252D37"/>
          </a:solidFill>
          <a:ln w="12700">
            <a:solidFill>
              <a:srgbClr val="7AA2F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658368" y="4143345"/>
            <a:ext cx="7827264" cy="40011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marL="0" indent="0" algn="ctr">
              <a:buNone/>
            </a:pPr>
            <a:r>
              <a:rPr lang="ja-JP" altLang="en-US"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帰結（経過時間・被害額など）は、それ自体は採点せず数値のまま提示</a:t>
            </a:r>
            <a:endParaRPr lang="en-US" altLang="ja-JP" sz="1000" b="0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 marL="0" indent="0" algn="ctr">
              <a:buNone/>
            </a:pPr>
            <a:r>
              <a:rPr lang="ja-JP" altLang="en-US"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方針の重みを通してのみ、方針適合に反映される</a:t>
            </a:r>
          </a:p>
        </p:txBody>
      </p:sp>
    </p:spTree>
    <p:extLst>
      <p:ext uri="{BB962C8B-B14F-4D97-AF65-F5344CB8AC3E}">
        <p14:creationId xmlns:p14="http://schemas.microsoft.com/office/powerpoint/2010/main" val="37136124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>
          <a:extLst>
            <a:ext uri="{FF2B5EF4-FFF2-40B4-BE49-F238E27FC236}">
              <a16:creationId xmlns:a16="http://schemas.microsoft.com/office/drawing/2014/main" id="{51E13FAA-2826-E08F-97F3-923A14BA5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11">
            <a:extLst>
              <a:ext uri="{FF2B5EF4-FFF2-40B4-BE49-F238E27FC236}">
                <a16:creationId xmlns:a16="http://schemas.microsoft.com/office/drawing/2014/main" id="{8B5B7AF0-2876-046F-3A73-14C95EA65D52}"/>
              </a:ext>
            </a:extLst>
          </p:cNvPr>
          <p:cNvGrpSpPr/>
          <p:nvPr/>
        </p:nvGrpSpPr>
        <p:grpSpPr>
          <a:xfrm>
            <a:off x="0" y="0"/>
            <a:ext cx="9144000" cy="5143500"/>
            <a:chOff x="0" y="0"/>
            <a:chExt cx="24384000" cy="13716000"/>
          </a:xfrm>
        </p:grpSpPr>
        <p:sp>
          <p:nvSpPr>
            <p:cNvPr id="58" name="Google Shape;58;p11">
              <a:extLst>
                <a:ext uri="{FF2B5EF4-FFF2-40B4-BE49-F238E27FC236}">
                  <a16:creationId xmlns:a16="http://schemas.microsoft.com/office/drawing/2014/main" id="{8CAE1F90-3684-AA31-4B91-81877DAF4D06}"/>
                </a:ext>
              </a:extLst>
            </p:cNvPr>
            <p:cNvSpPr/>
            <p:nvPr/>
          </p:nvSpPr>
          <p:spPr>
            <a:xfrm rot="5400000">
              <a:off x="8503696" y="-8503696"/>
              <a:ext cx="7376608" cy="24384000"/>
            </a:xfrm>
            <a:custGeom>
              <a:avLst/>
              <a:gdLst/>
              <a:ahLst/>
              <a:cxnLst/>
              <a:rect l="l" t="t" r="r" b="b"/>
              <a:pathLst>
                <a:path w="7376608" h="24384000" extrusionOk="0">
                  <a:moveTo>
                    <a:pt x="0" y="0"/>
                  </a:moveTo>
                  <a:lnTo>
                    <a:pt x="7376608" y="0"/>
                  </a:lnTo>
                  <a:lnTo>
                    <a:pt x="7376608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l="-25548" r="-205007"/>
              </a:stretch>
            </a:blipFill>
            <a:ln>
              <a:noFill/>
            </a:ln>
          </p:spPr>
          <p:txBody>
            <a:bodyPr/>
            <a:lstStyle/>
            <a:p>
              <a:endParaRPr lang="ja-JP" altLang="en-US" sz="900"/>
            </a:p>
          </p:txBody>
        </p:sp>
        <p:sp>
          <p:nvSpPr>
            <p:cNvPr id="59" name="Google Shape;59;p11">
              <a:extLst>
                <a:ext uri="{FF2B5EF4-FFF2-40B4-BE49-F238E27FC236}">
                  <a16:creationId xmlns:a16="http://schemas.microsoft.com/office/drawing/2014/main" id="{B8C561E4-6FD3-A9E9-9156-F3C41F31F416}"/>
                </a:ext>
              </a:extLst>
            </p:cNvPr>
            <p:cNvSpPr/>
            <p:nvPr/>
          </p:nvSpPr>
          <p:spPr>
            <a:xfrm rot="5400000" flipH="1">
              <a:off x="9022304" y="-1645696"/>
              <a:ext cx="6339392" cy="24384000"/>
            </a:xfrm>
            <a:custGeom>
              <a:avLst/>
              <a:gdLst/>
              <a:ahLst/>
              <a:cxnLst/>
              <a:rect l="l" t="t" r="r" b="b"/>
              <a:pathLst>
                <a:path w="6339392" h="24384000" extrusionOk="0">
                  <a:moveTo>
                    <a:pt x="0" y="24384000"/>
                  </a:moveTo>
                  <a:lnTo>
                    <a:pt x="6339392" y="24384000"/>
                  </a:lnTo>
                  <a:lnTo>
                    <a:pt x="6339392" y="0"/>
                  </a:lnTo>
                  <a:lnTo>
                    <a:pt x="0" y="0"/>
                  </a:lnTo>
                  <a:lnTo>
                    <a:pt x="0" y="2438400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l="-29726" r="-254888"/>
              </a:stretch>
            </a:blipFill>
            <a:ln>
              <a:noFill/>
            </a:ln>
          </p:spPr>
          <p:txBody>
            <a:bodyPr/>
            <a:lstStyle/>
            <a:p>
              <a:endParaRPr lang="ja-JP" altLang="en-US" sz="900"/>
            </a:p>
          </p:txBody>
        </p:sp>
      </p:grpSp>
      <p:grpSp>
        <p:nvGrpSpPr>
          <p:cNvPr id="60" name="Google Shape;60;p11">
            <a:extLst>
              <a:ext uri="{FF2B5EF4-FFF2-40B4-BE49-F238E27FC236}">
                <a16:creationId xmlns:a16="http://schemas.microsoft.com/office/drawing/2014/main" id="{71444D6F-F09D-593D-92BB-57DA33E06EE8}"/>
              </a:ext>
            </a:extLst>
          </p:cNvPr>
          <p:cNvGrpSpPr/>
          <p:nvPr/>
        </p:nvGrpSpPr>
        <p:grpSpPr>
          <a:xfrm>
            <a:off x="385139" y="399016"/>
            <a:ext cx="8385542" cy="4387004"/>
            <a:chOff x="0" y="-47625"/>
            <a:chExt cx="4417075" cy="2310850"/>
          </a:xfrm>
        </p:grpSpPr>
        <p:sp>
          <p:nvSpPr>
            <p:cNvPr id="61" name="Google Shape;61;p11">
              <a:extLst>
                <a:ext uri="{FF2B5EF4-FFF2-40B4-BE49-F238E27FC236}">
                  <a16:creationId xmlns:a16="http://schemas.microsoft.com/office/drawing/2014/main" id="{E0133DA4-88B6-0949-6023-AEB11F5ED1BD}"/>
                </a:ext>
              </a:extLst>
            </p:cNvPr>
            <p:cNvSpPr/>
            <p:nvPr/>
          </p:nvSpPr>
          <p:spPr>
            <a:xfrm>
              <a:off x="0" y="0"/>
              <a:ext cx="4417075" cy="2263225"/>
            </a:xfrm>
            <a:custGeom>
              <a:avLst/>
              <a:gdLst/>
              <a:ahLst/>
              <a:cxnLst/>
              <a:rect l="l" t="t" r="r" b="b"/>
              <a:pathLst>
                <a:path w="4417075" h="2263225" extrusionOk="0">
                  <a:moveTo>
                    <a:pt x="0" y="0"/>
                  </a:moveTo>
                  <a:lnTo>
                    <a:pt x="4417075" y="0"/>
                  </a:lnTo>
                  <a:lnTo>
                    <a:pt x="4417075" y="2263225"/>
                  </a:lnTo>
                  <a:lnTo>
                    <a:pt x="0" y="226322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ja-JP" altLang="en-US" sz="900"/>
            </a:p>
          </p:txBody>
        </p:sp>
        <p:sp>
          <p:nvSpPr>
            <p:cNvPr id="62" name="Google Shape;62;p11">
              <a:extLst>
                <a:ext uri="{FF2B5EF4-FFF2-40B4-BE49-F238E27FC236}">
                  <a16:creationId xmlns:a16="http://schemas.microsoft.com/office/drawing/2014/main" id="{C009AB78-125A-1266-F2C8-CDCAD2C4B4B6}"/>
                </a:ext>
              </a:extLst>
            </p:cNvPr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algn="ctr">
                <a:lnSpc>
                  <a:spcPct val="186611"/>
                </a:lnSpc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4" name="Google Shape;64;p11">
            <a:extLst>
              <a:ext uri="{FF2B5EF4-FFF2-40B4-BE49-F238E27FC236}">
                <a16:creationId xmlns:a16="http://schemas.microsoft.com/office/drawing/2014/main" id="{E706832E-998B-E776-D2C0-1D5C2F5B1D8D}"/>
              </a:ext>
            </a:extLst>
          </p:cNvPr>
          <p:cNvSpPr txBox="1"/>
          <p:nvPr/>
        </p:nvSpPr>
        <p:spPr>
          <a:xfrm>
            <a:off x="779281" y="679537"/>
            <a:ext cx="7435171" cy="646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2"/>
              </a:lnSpc>
            </a:pPr>
            <a:r>
              <a:rPr lang="en-US" altLang="ja-JP" sz="3499" b="1" dirty="0">
                <a:solidFill>
                  <a:srgbClr val="FFFFFF"/>
                </a:solidFill>
                <a:latin typeface="Archivo Black"/>
                <a:sym typeface="Archivo Black"/>
              </a:rPr>
              <a:t>IR Dojo </a:t>
            </a:r>
            <a:r>
              <a:rPr lang="ja-JP" altLang="en-US" sz="3499" b="1">
                <a:solidFill>
                  <a:srgbClr val="FFFFFF"/>
                </a:solidFill>
                <a:latin typeface="Archivo Black"/>
                <a:sym typeface="Archivo Black"/>
              </a:rPr>
              <a:t>の新規性</a:t>
            </a:r>
            <a:endParaRPr lang="ja-JP" altLang="en-US" sz="900" b="1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02CB1B0-F2C6-A718-8375-057B8028D8CA}"/>
              </a:ext>
            </a:extLst>
          </p:cNvPr>
          <p:cNvSpPr/>
          <p:nvPr/>
        </p:nvSpPr>
        <p:spPr>
          <a:xfrm>
            <a:off x="779281" y="1311308"/>
            <a:ext cx="1828800" cy="45720"/>
          </a:xfrm>
          <a:prstGeom prst="rect">
            <a:avLst/>
          </a:prstGeom>
          <a:solidFill>
            <a:srgbClr val="7AA2F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5" name="TextBox 64"/>
          <p:cNvSpPr txBox="1"/>
          <p:nvPr/>
        </p:nvSpPr>
        <p:spPr>
          <a:xfrm>
            <a:off x="777240" y="1481328"/>
            <a:ext cx="36576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buNone/>
            </a:pPr>
            <a:r>
              <a:rPr lang="ja-JP" altLang="en-US" sz="1400" b="1">
                <a:solidFill>
                  <a:srgbClr val="7AA2F8"/>
                </a:solidFill>
                <a:latin typeface="Noto Sans"/>
                <a:ea typeface="Noto Sans"/>
                <a:cs typeface="Noto Sans"/>
              </a:rPr>
              <a:t>既存の学習コンテンツとの違い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4572000" y="1517904"/>
            <a:ext cx="0" cy="2414016"/>
          </a:xfrm>
          <a:prstGeom prst="line">
            <a:avLst/>
          </a:prstGeom>
          <a:ln w="38100">
            <a:solidFill>
              <a:srgbClr val="FFFFFF"/>
            </a:solidFill>
          </a:ln>
        </p:spPr>
      </p:cxnSp>
      <p:sp>
        <p:nvSpPr>
          <p:cNvPr id="89" name="TextBox 88"/>
          <p:cNvSpPr txBox="1"/>
          <p:nvPr/>
        </p:nvSpPr>
        <p:spPr>
          <a:xfrm>
            <a:off x="4846320" y="1481328"/>
            <a:ext cx="36393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buNone/>
            </a:pPr>
            <a:r>
              <a:rPr lang="ja-JP" altLang="en-US" sz="1400" b="1">
                <a:solidFill>
                  <a:srgbClr val="7AA2F8"/>
                </a:solidFill>
                <a:latin typeface="Noto Sans"/>
                <a:ea typeface="Noto Sans"/>
                <a:cs typeface="Noto Sans"/>
              </a:rPr>
              <a:t>方針を替えると、最高点が入れ替わる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413248" y="1847088"/>
            <a:ext cx="1024128" cy="38404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marL="0" indent="0" algn="ctr">
              <a:buNone/>
            </a:pPr>
            <a:r>
              <a:rPr lang="ja-JP" altLang="en-US" sz="900" b="0">
                <a:solidFill>
                  <a:srgbClr val="8B95A3"/>
                </a:solidFill>
                <a:latin typeface="Calibri"/>
                <a:ea typeface="Calibri"/>
                <a:cs typeface="Calibri"/>
              </a:rPr>
              <a:t>立証可能性</a:t>
            </a:r>
            <a:br>
              <a:rPr sz="900" dirty="0"/>
            </a:br>
            <a:r>
              <a:rPr lang="ja-JP" altLang="en-US" sz="900" b="0">
                <a:solidFill>
                  <a:srgbClr val="8B95A3"/>
                </a:solidFill>
                <a:latin typeface="Calibri"/>
                <a:ea typeface="Calibri"/>
                <a:cs typeface="Calibri"/>
              </a:rPr>
              <a:t>最優先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437376" y="1847088"/>
            <a:ext cx="1024128" cy="38404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marL="0" indent="0" algn="ctr">
              <a:buNone/>
            </a:pPr>
            <a:r>
              <a:rPr lang="ja-JP" altLang="en-US" sz="900" b="0">
                <a:solidFill>
                  <a:srgbClr val="8B95A3"/>
                </a:solidFill>
                <a:latin typeface="Calibri"/>
                <a:ea typeface="Calibri"/>
                <a:cs typeface="Calibri"/>
              </a:rPr>
              <a:t>早期封じ込め</a:t>
            </a:r>
            <a:br>
              <a:rPr sz="900"/>
            </a:br>
            <a:r>
              <a:rPr lang="ja-JP" altLang="en-US" sz="900" b="0">
                <a:solidFill>
                  <a:srgbClr val="8B95A3"/>
                </a:solidFill>
                <a:latin typeface="Calibri"/>
                <a:ea typeface="Calibri"/>
                <a:cs typeface="Calibri"/>
              </a:rPr>
              <a:t>最優先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461504" y="1847088"/>
            <a:ext cx="1024128" cy="38404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marL="0" indent="0" algn="ctr">
              <a:buNone/>
            </a:pPr>
            <a:r>
              <a:rPr lang="ja-JP" altLang="en-US" sz="900" b="0">
                <a:solidFill>
                  <a:srgbClr val="8B95A3"/>
                </a:solidFill>
                <a:latin typeface="Calibri"/>
                <a:ea typeface="Calibri"/>
                <a:cs typeface="Calibri"/>
              </a:rPr>
              <a:t>就業関係への配慮</a:t>
            </a:r>
            <a:br>
              <a:rPr sz="900" dirty="0"/>
            </a:br>
            <a:r>
              <a:rPr lang="ja-JP" altLang="en-US" sz="900" b="0">
                <a:solidFill>
                  <a:srgbClr val="8B95A3"/>
                </a:solidFill>
                <a:latin typeface="Calibri"/>
                <a:ea typeface="Calibri"/>
                <a:cs typeface="Calibri"/>
              </a:rPr>
              <a:t>最優先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4846320" y="2240280"/>
            <a:ext cx="3639312" cy="0"/>
          </a:xfrm>
          <a:prstGeom prst="line">
            <a:avLst/>
          </a:prstGeom>
          <a:ln w="9525">
            <a:solidFill>
              <a:srgbClr val="4A5568"/>
            </a:solidFill>
          </a:ln>
        </p:spPr>
      </p:cxnSp>
      <p:sp>
        <p:nvSpPr>
          <p:cNvPr id="94" name="TextBox 93"/>
          <p:cNvSpPr txBox="1"/>
          <p:nvPr/>
        </p:nvSpPr>
        <p:spPr>
          <a:xfrm>
            <a:off x="4846320" y="2276856"/>
            <a:ext cx="56692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lang="ja-JP" altLang="en-US" sz="950" b="0">
                <a:solidFill>
                  <a:srgbClr val="8B95A3"/>
                </a:solidFill>
                <a:latin typeface="Calibri"/>
                <a:ea typeface="Calibri"/>
                <a:cs typeface="Calibri"/>
              </a:rPr>
              <a:t>Aの対応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468112" y="2295144"/>
            <a:ext cx="914400" cy="292608"/>
          </a:xfrm>
          <a:prstGeom prst="rect">
            <a:avLst/>
          </a:prstGeom>
          <a:solidFill>
            <a:srgbClr val="252D37"/>
          </a:solidFill>
          <a:ln w="12700">
            <a:solidFill>
              <a:srgbClr val="7AA2F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5413248" y="2276856"/>
            <a:ext cx="102412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buNone/>
            </a:pPr>
            <a:r>
              <a:rPr lang="ja-JP" altLang="en-US" sz="1200" b="1">
                <a:solidFill>
                  <a:srgbClr val="7AA2F7"/>
                </a:solidFill>
                <a:latin typeface="Calibri"/>
                <a:ea typeface="Calibri"/>
                <a:cs typeface="Calibri"/>
              </a:rPr>
              <a:t>98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437376" y="2276856"/>
            <a:ext cx="102412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buNone/>
            </a:pPr>
            <a:r>
              <a:rPr lang="ja-JP" altLang="en-US" sz="1200" b="0">
                <a:solidFill>
                  <a:srgbClr val="8B95A3"/>
                </a:solidFill>
                <a:latin typeface="Calibri"/>
                <a:ea typeface="Calibri"/>
                <a:cs typeface="Calibri"/>
              </a:rPr>
              <a:t>87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461504" y="2276856"/>
            <a:ext cx="102412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buNone/>
            </a:pPr>
            <a:r>
              <a:rPr lang="ja-JP" altLang="en-US" sz="1200" b="0">
                <a:solidFill>
                  <a:srgbClr val="8B95A3"/>
                </a:solidFill>
                <a:latin typeface="Calibri"/>
                <a:ea typeface="Calibri"/>
                <a:cs typeface="Calibri"/>
              </a:rPr>
              <a:t>97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846320" y="2606040"/>
            <a:ext cx="56692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lang="ja-JP" altLang="en-US" sz="950" b="0">
                <a:solidFill>
                  <a:srgbClr val="8B95A3"/>
                </a:solidFill>
                <a:latin typeface="Calibri"/>
                <a:ea typeface="Calibri"/>
                <a:cs typeface="Calibri"/>
              </a:rPr>
              <a:t>Bの対応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413248" y="2606040"/>
            <a:ext cx="102412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buNone/>
            </a:pPr>
            <a:r>
              <a:rPr lang="ja-JP" altLang="en-US" sz="1200" b="0">
                <a:solidFill>
                  <a:srgbClr val="8B95A3"/>
                </a:solidFill>
                <a:latin typeface="Calibri"/>
                <a:ea typeface="Calibri"/>
                <a:cs typeface="Calibri"/>
              </a:rPr>
              <a:t>88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492240" y="2624328"/>
            <a:ext cx="914400" cy="292608"/>
          </a:xfrm>
          <a:prstGeom prst="rect">
            <a:avLst/>
          </a:prstGeom>
          <a:solidFill>
            <a:srgbClr val="252D37"/>
          </a:solidFill>
          <a:ln w="12700">
            <a:solidFill>
              <a:srgbClr val="7AA2F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6437376" y="2606040"/>
            <a:ext cx="102412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buNone/>
            </a:pPr>
            <a:r>
              <a:rPr lang="ja-JP" altLang="en-US" sz="1200" b="1">
                <a:solidFill>
                  <a:srgbClr val="7AA2F7"/>
                </a:solidFill>
                <a:latin typeface="Calibri"/>
                <a:ea typeface="Calibri"/>
                <a:cs typeface="Calibri"/>
              </a:rPr>
              <a:t>95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461504" y="2606040"/>
            <a:ext cx="102412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buNone/>
            </a:pPr>
            <a:r>
              <a:rPr lang="ja-JP" altLang="en-US" sz="1200" b="0">
                <a:solidFill>
                  <a:srgbClr val="8B95A3"/>
                </a:solidFill>
                <a:latin typeface="Calibri"/>
                <a:ea typeface="Calibri"/>
                <a:cs typeface="Calibri"/>
              </a:rPr>
              <a:t>92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846320" y="2935224"/>
            <a:ext cx="56692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lang="ja-JP" altLang="en-US" sz="950" b="0">
                <a:solidFill>
                  <a:srgbClr val="8B95A3"/>
                </a:solidFill>
                <a:latin typeface="Calibri"/>
                <a:ea typeface="Calibri"/>
                <a:cs typeface="Calibri"/>
              </a:rPr>
              <a:t>Cの対応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413248" y="2935224"/>
            <a:ext cx="102412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buNone/>
            </a:pPr>
            <a:r>
              <a:rPr lang="ja-JP" altLang="en-US" sz="1200" b="0">
                <a:solidFill>
                  <a:srgbClr val="8B95A3"/>
                </a:solidFill>
                <a:latin typeface="Calibri"/>
                <a:ea typeface="Calibri"/>
                <a:cs typeface="Calibri"/>
              </a:rPr>
              <a:t>90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437376" y="2935224"/>
            <a:ext cx="102412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buNone/>
            </a:pPr>
            <a:r>
              <a:rPr lang="ja-JP" altLang="en-US" sz="1200" b="0">
                <a:solidFill>
                  <a:srgbClr val="8B95A3"/>
                </a:solidFill>
                <a:latin typeface="Calibri"/>
                <a:ea typeface="Calibri"/>
                <a:cs typeface="Calibri"/>
              </a:rPr>
              <a:t>88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7516368" y="2953512"/>
            <a:ext cx="914400" cy="292608"/>
          </a:xfrm>
          <a:prstGeom prst="rect">
            <a:avLst/>
          </a:prstGeom>
          <a:solidFill>
            <a:srgbClr val="252D37"/>
          </a:solidFill>
          <a:ln w="12700">
            <a:solidFill>
              <a:srgbClr val="7AA2F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7461504" y="2935224"/>
            <a:ext cx="102412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buNone/>
            </a:pPr>
            <a:r>
              <a:rPr lang="ja-JP" altLang="en-US" sz="1200" b="1">
                <a:solidFill>
                  <a:srgbClr val="7AA2F7"/>
                </a:solidFill>
                <a:latin typeface="Calibri"/>
                <a:ea typeface="Calibri"/>
                <a:cs typeface="Calibri"/>
              </a:rPr>
              <a:t>98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846320" y="3346704"/>
            <a:ext cx="3639312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buNone/>
            </a:pPr>
            <a:r>
              <a:rPr lang="ja-JP" altLang="en-US" sz="1000" b="0">
                <a:solidFill>
                  <a:srgbClr val="8B95A3"/>
                </a:solidFill>
                <a:latin typeface="Calibri"/>
                <a:ea typeface="Calibri"/>
                <a:cs typeface="Calibri"/>
              </a:rPr>
              <a:t>同じ3通りの対応を、3つの方針で採点した実測値</a:t>
            </a:r>
            <a:endParaRPr lang="en-US" altLang="ja-JP" sz="1000" b="0" dirty="0">
              <a:solidFill>
                <a:srgbClr val="8B95A3"/>
              </a:solidFill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ja-JP" altLang="en-US" sz="1000" b="0">
                <a:solidFill>
                  <a:srgbClr val="8B95A3"/>
                </a:solidFill>
                <a:latin typeface="Calibri"/>
                <a:ea typeface="Calibri"/>
                <a:cs typeface="Calibri"/>
              </a:rPr>
              <a:t>方針ごとに最高点の対応が変わり、正解は一つに定まらない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846320" y="3815277"/>
            <a:ext cx="36393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buNone/>
            </a:pPr>
            <a:r>
              <a:rPr lang="ja-JP" altLang="en-US" sz="900" b="0">
                <a:solidFill>
                  <a:srgbClr val="8B95A3"/>
                </a:solidFill>
                <a:latin typeface="Calibri"/>
                <a:ea typeface="Calibri"/>
                <a:cs typeface="Calibri"/>
              </a:rPr>
              <a:t>エンジンによる実測（内部不正の演習）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58368" y="4151376"/>
            <a:ext cx="7827264" cy="384048"/>
          </a:xfrm>
          <a:prstGeom prst="rect">
            <a:avLst/>
          </a:prstGeom>
          <a:solidFill>
            <a:srgbClr val="252D37"/>
          </a:solidFill>
          <a:ln w="12700">
            <a:solidFill>
              <a:srgbClr val="7AA2F7"/>
            </a:solidFill>
          </a:ln>
        </p:spPr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2" name="TextBox 111"/>
          <p:cNvSpPr txBox="1"/>
          <p:nvPr/>
        </p:nvSpPr>
        <p:spPr>
          <a:xfrm>
            <a:off x="658368" y="4220289"/>
            <a:ext cx="7827264" cy="246221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marL="0" indent="0" algn="ctr">
              <a:buNone/>
            </a:pPr>
            <a:r>
              <a:rPr lang="ja-JP" altLang="en-US"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方針を変更すれば、同じシナリオが方針の数だけ違う正解を持つ演習となる</a:t>
            </a:r>
          </a:p>
        </p:txBody>
      </p:sp>
      <p:sp>
        <p:nvSpPr>
          <p:cNvPr id="5" name="TextBox 64">
            <a:extLst>
              <a:ext uri="{FF2B5EF4-FFF2-40B4-BE49-F238E27FC236}">
                <a16:creationId xmlns:a16="http://schemas.microsoft.com/office/drawing/2014/main" id="{BDFF4756-7E41-A3D8-D070-A18BB2796086}"/>
              </a:ext>
            </a:extLst>
          </p:cNvPr>
          <p:cNvSpPr txBox="1"/>
          <p:nvPr/>
        </p:nvSpPr>
        <p:spPr>
          <a:xfrm>
            <a:off x="777240" y="2704422"/>
            <a:ext cx="36576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buNone/>
            </a:pPr>
            <a:r>
              <a:rPr lang="ja-JP" altLang="en-US" sz="1400" b="1">
                <a:solidFill>
                  <a:srgbClr val="7AA2F8"/>
                </a:solidFill>
                <a:latin typeface="Noto Sans"/>
                <a:ea typeface="Noto Sans"/>
                <a:cs typeface="Noto Sans"/>
              </a:rPr>
              <a:t>現場での実例ベースでの学習との違い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77240" y="1764792"/>
            <a:ext cx="36576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>
              <a:buFont typeface="Arial"/>
              <a:buChar char="•"/>
            </a:pPr>
            <a:r>
              <a:rPr lang="ja-JP" altLang="en-US"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方針ごとに正解が変わり、現場とのギャップを解消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ja-JP" altLang="en-US"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コマンド不要。アクションを選ぶだけで初学者も可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ja-JP" altLang="en-US"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シナリオは YAML 1ファイルで追加・更新できる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77240" y="2980944"/>
            <a:ext cx="36576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>
              <a:buFont typeface="Arial"/>
              <a:buChar char="•"/>
            </a:pPr>
            <a:r>
              <a:rPr lang="ja-JP" altLang="en-US"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攻撃と証拠を固定し、同じ条件を何度でも再現できる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ja-JP" altLang="en-US"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判断時点の根拠を自動で採点し、対応を客観的に評価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ja-JP" altLang="en-US"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誤導や未解消の論点を仕込み、実例に頼らず判断力を測る</a:t>
            </a:r>
          </a:p>
        </p:txBody>
      </p:sp>
    </p:spTree>
    <p:extLst>
      <p:ext uri="{BB962C8B-B14F-4D97-AF65-F5344CB8AC3E}">
        <p14:creationId xmlns:p14="http://schemas.microsoft.com/office/powerpoint/2010/main" val="27130778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>
          <a:extLst>
            <a:ext uri="{FF2B5EF4-FFF2-40B4-BE49-F238E27FC236}">
              <a16:creationId xmlns:a16="http://schemas.microsoft.com/office/drawing/2014/main" id="{E5880E9D-65D1-3667-3612-0A8B9A138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11">
            <a:extLst>
              <a:ext uri="{FF2B5EF4-FFF2-40B4-BE49-F238E27FC236}">
                <a16:creationId xmlns:a16="http://schemas.microsoft.com/office/drawing/2014/main" id="{D0801919-A688-72A6-36C8-D00B65C91A76}"/>
              </a:ext>
            </a:extLst>
          </p:cNvPr>
          <p:cNvGrpSpPr/>
          <p:nvPr/>
        </p:nvGrpSpPr>
        <p:grpSpPr>
          <a:xfrm>
            <a:off x="0" y="0"/>
            <a:ext cx="9144000" cy="5143500"/>
            <a:chOff x="0" y="0"/>
            <a:chExt cx="24384000" cy="13716000"/>
          </a:xfrm>
        </p:grpSpPr>
        <p:sp>
          <p:nvSpPr>
            <p:cNvPr id="58" name="Google Shape;58;p11">
              <a:extLst>
                <a:ext uri="{FF2B5EF4-FFF2-40B4-BE49-F238E27FC236}">
                  <a16:creationId xmlns:a16="http://schemas.microsoft.com/office/drawing/2014/main" id="{F293AA95-7214-80BE-1C0B-C47AF7770188}"/>
                </a:ext>
              </a:extLst>
            </p:cNvPr>
            <p:cNvSpPr/>
            <p:nvPr/>
          </p:nvSpPr>
          <p:spPr>
            <a:xfrm rot="5400000">
              <a:off x="8503696" y="-8503696"/>
              <a:ext cx="7376608" cy="24384000"/>
            </a:xfrm>
            <a:custGeom>
              <a:avLst/>
              <a:gdLst/>
              <a:ahLst/>
              <a:cxnLst/>
              <a:rect l="l" t="t" r="r" b="b"/>
              <a:pathLst>
                <a:path w="7376608" h="24384000" extrusionOk="0">
                  <a:moveTo>
                    <a:pt x="0" y="0"/>
                  </a:moveTo>
                  <a:lnTo>
                    <a:pt x="7376608" y="0"/>
                  </a:lnTo>
                  <a:lnTo>
                    <a:pt x="7376608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l="-25548" r="-205007"/>
              </a:stretch>
            </a:blipFill>
            <a:ln>
              <a:noFill/>
            </a:ln>
          </p:spPr>
          <p:txBody>
            <a:bodyPr/>
            <a:lstStyle/>
            <a:p>
              <a:endParaRPr lang="ja-JP" altLang="en-US" sz="900"/>
            </a:p>
          </p:txBody>
        </p:sp>
        <p:sp>
          <p:nvSpPr>
            <p:cNvPr id="59" name="Google Shape;59;p11">
              <a:extLst>
                <a:ext uri="{FF2B5EF4-FFF2-40B4-BE49-F238E27FC236}">
                  <a16:creationId xmlns:a16="http://schemas.microsoft.com/office/drawing/2014/main" id="{BFE49719-EC33-DE85-B422-CB327C721FBA}"/>
                </a:ext>
              </a:extLst>
            </p:cNvPr>
            <p:cNvSpPr/>
            <p:nvPr/>
          </p:nvSpPr>
          <p:spPr>
            <a:xfrm rot="5400000" flipH="1">
              <a:off x="9022304" y="-1645696"/>
              <a:ext cx="6339392" cy="24384000"/>
            </a:xfrm>
            <a:custGeom>
              <a:avLst/>
              <a:gdLst/>
              <a:ahLst/>
              <a:cxnLst/>
              <a:rect l="l" t="t" r="r" b="b"/>
              <a:pathLst>
                <a:path w="6339392" h="24384000" extrusionOk="0">
                  <a:moveTo>
                    <a:pt x="0" y="24384000"/>
                  </a:moveTo>
                  <a:lnTo>
                    <a:pt x="6339392" y="24384000"/>
                  </a:lnTo>
                  <a:lnTo>
                    <a:pt x="6339392" y="0"/>
                  </a:lnTo>
                  <a:lnTo>
                    <a:pt x="0" y="0"/>
                  </a:lnTo>
                  <a:lnTo>
                    <a:pt x="0" y="2438400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l="-29726" r="-254888"/>
              </a:stretch>
            </a:blipFill>
            <a:ln>
              <a:noFill/>
            </a:ln>
          </p:spPr>
          <p:txBody>
            <a:bodyPr/>
            <a:lstStyle/>
            <a:p>
              <a:endParaRPr lang="ja-JP" altLang="en-US" sz="900"/>
            </a:p>
          </p:txBody>
        </p:sp>
      </p:grpSp>
      <p:grpSp>
        <p:nvGrpSpPr>
          <p:cNvPr id="60" name="Google Shape;60;p11">
            <a:extLst>
              <a:ext uri="{FF2B5EF4-FFF2-40B4-BE49-F238E27FC236}">
                <a16:creationId xmlns:a16="http://schemas.microsoft.com/office/drawing/2014/main" id="{F6C35EEA-5B62-98D2-DEF6-5D6B437E539D}"/>
              </a:ext>
            </a:extLst>
          </p:cNvPr>
          <p:cNvGrpSpPr/>
          <p:nvPr/>
        </p:nvGrpSpPr>
        <p:grpSpPr>
          <a:xfrm>
            <a:off x="385139" y="399016"/>
            <a:ext cx="8385542" cy="4387004"/>
            <a:chOff x="0" y="-47625"/>
            <a:chExt cx="4417075" cy="2310850"/>
          </a:xfrm>
        </p:grpSpPr>
        <p:sp>
          <p:nvSpPr>
            <p:cNvPr id="61" name="Google Shape;61;p11">
              <a:extLst>
                <a:ext uri="{FF2B5EF4-FFF2-40B4-BE49-F238E27FC236}">
                  <a16:creationId xmlns:a16="http://schemas.microsoft.com/office/drawing/2014/main" id="{21DD123F-559E-5F5C-7B78-BA48B44A0E5D}"/>
                </a:ext>
              </a:extLst>
            </p:cNvPr>
            <p:cNvSpPr/>
            <p:nvPr/>
          </p:nvSpPr>
          <p:spPr>
            <a:xfrm>
              <a:off x="0" y="0"/>
              <a:ext cx="4417075" cy="2263225"/>
            </a:xfrm>
            <a:custGeom>
              <a:avLst/>
              <a:gdLst/>
              <a:ahLst/>
              <a:cxnLst/>
              <a:rect l="l" t="t" r="r" b="b"/>
              <a:pathLst>
                <a:path w="4417075" h="2263225" extrusionOk="0">
                  <a:moveTo>
                    <a:pt x="0" y="0"/>
                  </a:moveTo>
                  <a:lnTo>
                    <a:pt x="4417075" y="0"/>
                  </a:lnTo>
                  <a:lnTo>
                    <a:pt x="4417075" y="2263225"/>
                  </a:lnTo>
                  <a:lnTo>
                    <a:pt x="0" y="226322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ja-JP" altLang="en-US" sz="900"/>
            </a:p>
          </p:txBody>
        </p:sp>
        <p:sp>
          <p:nvSpPr>
            <p:cNvPr id="62" name="Google Shape;62;p11">
              <a:extLst>
                <a:ext uri="{FF2B5EF4-FFF2-40B4-BE49-F238E27FC236}">
                  <a16:creationId xmlns:a16="http://schemas.microsoft.com/office/drawing/2014/main" id="{A28BFB22-28ED-D417-56E1-389C7848D218}"/>
                </a:ext>
              </a:extLst>
            </p:cNvPr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algn="ctr">
                <a:lnSpc>
                  <a:spcPct val="186611"/>
                </a:lnSpc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4" name="Google Shape;64;p11">
            <a:extLst>
              <a:ext uri="{FF2B5EF4-FFF2-40B4-BE49-F238E27FC236}">
                <a16:creationId xmlns:a16="http://schemas.microsoft.com/office/drawing/2014/main" id="{D58FF458-F6C5-D4AF-A4D8-78C249F61250}"/>
              </a:ext>
            </a:extLst>
          </p:cNvPr>
          <p:cNvSpPr txBox="1"/>
          <p:nvPr/>
        </p:nvSpPr>
        <p:spPr>
          <a:xfrm>
            <a:off x="779281" y="679537"/>
            <a:ext cx="7435171" cy="646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2"/>
              </a:lnSpc>
            </a:pPr>
            <a:r>
              <a:rPr lang="en-US" altLang="ja-JP" sz="3499" b="1" dirty="0">
                <a:solidFill>
                  <a:srgbClr val="FFFFFF"/>
                </a:solidFill>
                <a:latin typeface="Archivo Black"/>
                <a:sym typeface="Archivo Black"/>
              </a:rPr>
              <a:t>IR Dojo </a:t>
            </a:r>
            <a:r>
              <a:rPr lang="ja-JP" altLang="en-US" sz="3499" b="1">
                <a:solidFill>
                  <a:srgbClr val="FFFFFF"/>
                </a:solidFill>
                <a:latin typeface="Archivo Black"/>
                <a:sym typeface="Archivo Black"/>
              </a:rPr>
              <a:t>の実用性と貢献</a:t>
            </a:r>
            <a:endParaRPr lang="ja-JP" altLang="en-US" sz="900" b="1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C3C77D7-84AC-B2D2-9D1E-B749D837C253}"/>
              </a:ext>
            </a:extLst>
          </p:cNvPr>
          <p:cNvSpPr/>
          <p:nvPr/>
        </p:nvSpPr>
        <p:spPr>
          <a:xfrm>
            <a:off x="779281" y="1311308"/>
            <a:ext cx="1828800" cy="45720"/>
          </a:xfrm>
          <a:prstGeom prst="rect">
            <a:avLst/>
          </a:prstGeom>
          <a:solidFill>
            <a:srgbClr val="7AA2F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5" name="TextBox 64"/>
          <p:cNvSpPr txBox="1"/>
          <p:nvPr/>
        </p:nvSpPr>
        <p:spPr>
          <a:xfrm>
            <a:off x="850392" y="1517904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buNone/>
            </a:pPr>
            <a:r>
              <a:rPr lang="ja-JP" altLang="en-US" sz="1400" b="1">
                <a:solidFill>
                  <a:srgbClr val="7AA2F8"/>
                </a:solidFill>
                <a:latin typeface="Noto Sans"/>
                <a:ea typeface="Noto Sans"/>
                <a:cs typeface="Noto Sans"/>
              </a:rPr>
              <a:t>実用性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892040" y="1517904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buNone/>
            </a:pPr>
            <a:r>
              <a:rPr lang="ja-JP" altLang="en-US" sz="1400" b="1">
                <a:solidFill>
                  <a:srgbClr val="7AA2F8"/>
                </a:solidFill>
                <a:latin typeface="Noto Sans"/>
                <a:ea typeface="Noto Sans"/>
                <a:cs typeface="Noto Sans"/>
              </a:rPr>
              <a:t>貢献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4562856" y="1554480"/>
            <a:ext cx="0" cy="2377440"/>
          </a:xfrm>
          <a:prstGeom prst="line">
            <a:avLst/>
          </a:prstGeom>
          <a:ln w="38100">
            <a:solidFill>
              <a:srgbClr val="FFFFFF"/>
            </a:solidFill>
          </a:ln>
        </p:spPr>
      </p:cxnSp>
      <p:sp>
        <p:nvSpPr>
          <p:cNvPr id="68" name="TextBox 67"/>
          <p:cNvSpPr txBox="1"/>
          <p:nvPr/>
        </p:nvSpPr>
        <p:spPr>
          <a:xfrm>
            <a:off x="850392" y="1847088"/>
            <a:ext cx="3429000" cy="17841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>
              <a:lnSpc>
                <a:spcPct val="140000"/>
              </a:lnSpc>
              <a:buFont typeface="Arial"/>
              <a:buChar char="•"/>
            </a:pPr>
            <a:r>
              <a:rPr lang="ja-JP" altLang="en-US"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Python だけで動き、データは手元から出ない</a:t>
            </a:r>
          </a:p>
          <a:p>
            <a:pPr marL="171450" indent="-171450">
              <a:lnSpc>
                <a:spcPct val="140000"/>
              </a:lnSpc>
              <a:spcBef>
                <a:spcPts val="300"/>
              </a:spcBef>
              <a:buFont typeface="Arial"/>
              <a:buChar char="•"/>
            </a:pPr>
            <a:r>
              <a:rPr lang="ja-JP" altLang="en-US"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ファシリテーター不要</a:t>
            </a:r>
            <a:br>
              <a:rPr sz="1100" dirty="0"/>
            </a:br>
            <a:r>
              <a:rPr lang="ja-JP" altLang="en-US"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自動採点で何度でも独習・再挑戦できる</a:t>
            </a:r>
          </a:p>
          <a:p>
            <a:pPr marL="171450" indent="-171450">
              <a:lnSpc>
                <a:spcPct val="140000"/>
              </a:lnSpc>
              <a:spcBef>
                <a:spcPts val="300"/>
              </a:spcBef>
              <a:buFont typeface="Arial"/>
              <a:buChar char="•"/>
            </a:pPr>
            <a:r>
              <a:rPr lang="ja-JP" altLang="en-US"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方針やアシストを変えて再挑戦し、</a:t>
            </a:r>
            <a:br>
              <a:rPr lang="ja-JP" altLang="en-US" sz="1100"/>
            </a:br>
            <a:r>
              <a:rPr lang="ja-JP" altLang="en-US"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条件ごとに並べて比較できる</a:t>
            </a:r>
          </a:p>
          <a:p>
            <a:pPr marL="171450" indent="-171450">
              <a:lnSpc>
                <a:spcPct val="140000"/>
              </a:lnSpc>
              <a:spcBef>
                <a:spcPts val="300"/>
              </a:spcBef>
              <a:buFont typeface="Arial"/>
              <a:buChar char="•"/>
            </a:pPr>
            <a:r>
              <a:rPr lang="ja-JP" altLang="en-US"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証拠は本物同様のログを採用し、</a:t>
            </a:r>
            <a:br>
              <a:rPr sz="1100" dirty="0"/>
            </a:br>
            <a:r>
              <a:rPr lang="ja-JP" altLang="en-US"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読解のリアリティを確保</a:t>
            </a:r>
            <a:endParaRPr lang="en-US" altLang="ja-JP" sz="11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4892040" y="1847088"/>
            <a:ext cx="3520440" cy="19826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>
              <a:lnSpc>
                <a:spcPct val="140000"/>
              </a:lnSpc>
              <a:buFont typeface="Arial"/>
              <a:buChar char="•"/>
            </a:pPr>
            <a:r>
              <a:rPr lang="ja-JP" altLang="en-US"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正解を一つに定めない自動採点という設計を</a:t>
            </a:r>
            <a:br>
              <a:rPr sz="1100" dirty="0"/>
            </a:br>
            <a:r>
              <a:rPr lang="ja-JP" altLang="en-US"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実装まで含めて一例として示す</a:t>
            </a:r>
          </a:p>
          <a:p>
            <a:pPr marL="171450" indent="-171450">
              <a:lnSpc>
                <a:spcPct val="140000"/>
              </a:lnSpc>
              <a:spcBef>
                <a:spcPts val="300"/>
              </a:spcBef>
              <a:buFont typeface="Arial"/>
              <a:buChar char="•"/>
            </a:pPr>
            <a:r>
              <a:rPr lang="ja-JP" altLang="en-US"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YAML を1ファイル置くだけでシナリオを追加でき、現場の事例を演習にできる</a:t>
            </a:r>
          </a:p>
          <a:p>
            <a:pPr marL="171450" indent="-171450">
              <a:lnSpc>
                <a:spcPct val="140000"/>
              </a:lnSpc>
              <a:spcBef>
                <a:spcPts val="300"/>
              </a:spcBef>
              <a:buFont typeface="Arial"/>
              <a:buChar char="•"/>
            </a:pPr>
            <a:r>
              <a:rPr lang="ja-JP" altLang="en-US"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設計の全文（SPEC.md）と</a:t>
            </a:r>
            <a:br>
              <a:rPr sz="1100" dirty="0"/>
            </a:br>
            <a:r>
              <a:rPr lang="ja-JP" altLang="en-US"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均衡を数値で測る計器・自動テストまで同梱</a:t>
            </a:r>
          </a:p>
          <a:p>
            <a:pPr marL="171450" indent="-171450">
              <a:lnSpc>
                <a:spcPct val="140000"/>
              </a:lnSpc>
              <a:spcBef>
                <a:spcPts val="300"/>
              </a:spcBef>
              <a:buFont typeface="Arial"/>
              <a:buChar char="•"/>
            </a:pPr>
            <a:r>
              <a:rPr lang="ja-JP" altLang="en-US"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エンジンは MIT、同梱シナリオは CC-BY-4.0</a:t>
            </a:r>
            <a:br>
              <a:rPr sz="1100" dirty="0"/>
            </a:br>
            <a:r>
              <a:rPr lang="ja-JP" altLang="en-US"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誰でも利用・改良できる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58368" y="4151376"/>
            <a:ext cx="7827264" cy="384048"/>
          </a:xfrm>
          <a:prstGeom prst="rect">
            <a:avLst/>
          </a:prstGeom>
          <a:solidFill>
            <a:srgbClr val="252D37"/>
          </a:solidFill>
          <a:ln w="12700">
            <a:solidFill>
              <a:srgbClr val="7AA2F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58368" y="4220289"/>
            <a:ext cx="7827264" cy="246221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marL="0" indent="0" algn="ctr">
              <a:buNone/>
            </a:pPr>
            <a:r>
              <a:rPr lang="ja-JP" altLang="en-US"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対象：インシデント対応をこれから学ぶ人から、判断の癖を振り返りたい経験者まで</a:t>
            </a:r>
            <a:r>
              <a:rPr lang="ja-JP" altLang="en-US" sz="1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（</a:t>
            </a:r>
            <a:r>
              <a:rPr lang="ja-JP" altLang="en-US"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3段階のアシストレベル）</a:t>
            </a:r>
          </a:p>
        </p:txBody>
      </p:sp>
    </p:spTree>
    <p:extLst>
      <p:ext uri="{BB962C8B-B14F-4D97-AF65-F5344CB8AC3E}">
        <p14:creationId xmlns:p14="http://schemas.microsoft.com/office/powerpoint/2010/main" val="29681950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>
          <a:extLst>
            <a:ext uri="{FF2B5EF4-FFF2-40B4-BE49-F238E27FC236}">
              <a16:creationId xmlns:a16="http://schemas.microsoft.com/office/drawing/2014/main" id="{BC542EA8-749A-1ED9-B09A-B3EAAB5D4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11">
            <a:extLst>
              <a:ext uri="{FF2B5EF4-FFF2-40B4-BE49-F238E27FC236}">
                <a16:creationId xmlns:a16="http://schemas.microsoft.com/office/drawing/2014/main" id="{17BD69E4-2654-2A0D-964B-5439C0EF3A22}"/>
              </a:ext>
            </a:extLst>
          </p:cNvPr>
          <p:cNvGrpSpPr/>
          <p:nvPr/>
        </p:nvGrpSpPr>
        <p:grpSpPr>
          <a:xfrm>
            <a:off x="0" y="0"/>
            <a:ext cx="9144000" cy="5143500"/>
            <a:chOff x="0" y="0"/>
            <a:chExt cx="24384000" cy="13716000"/>
          </a:xfrm>
        </p:grpSpPr>
        <p:sp>
          <p:nvSpPr>
            <p:cNvPr id="58" name="Google Shape;58;p11">
              <a:extLst>
                <a:ext uri="{FF2B5EF4-FFF2-40B4-BE49-F238E27FC236}">
                  <a16:creationId xmlns:a16="http://schemas.microsoft.com/office/drawing/2014/main" id="{333A0638-E3DE-AB79-5AB0-5463F904C003}"/>
                </a:ext>
              </a:extLst>
            </p:cNvPr>
            <p:cNvSpPr/>
            <p:nvPr/>
          </p:nvSpPr>
          <p:spPr>
            <a:xfrm rot="5400000">
              <a:off x="8503696" y="-8503696"/>
              <a:ext cx="7376608" cy="24384000"/>
            </a:xfrm>
            <a:custGeom>
              <a:avLst/>
              <a:gdLst/>
              <a:ahLst/>
              <a:cxnLst/>
              <a:rect l="l" t="t" r="r" b="b"/>
              <a:pathLst>
                <a:path w="7376608" h="24384000" extrusionOk="0">
                  <a:moveTo>
                    <a:pt x="0" y="0"/>
                  </a:moveTo>
                  <a:lnTo>
                    <a:pt x="7376608" y="0"/>
                  </a:lnTo>
                  <a:lnTo>
                    <a:pt x="7376608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l="-25548" r="-205007"/>
              </a:stretch>
            </a:blipFill>
            <a:ln>
              <a:noFill/>
            </a:ln>
          </p:spPr>
          <p:txBody>
            <a:bodyPr/>
            <a:lstStyle/>
            <a:p>
              <a:endParaRPr lang="ja-JP" altLang="en-US" sz="900"/>
            </a:p>
          </p:txBody>
        </p:sp>
        <p:sp>
          <p:nvSpPr>
            <p:cNvPr id="59" name="Google Shape;59;p11">
              <a:extLst>
                <a:ext uri="{FF2B5EF4-FFF2-40B4-BE49-F238E27FC236}">
                  <a16:creationId xmlns:a16="http://schemas.microsoft.com/office/drawing/2014/main" id="{200C6580-1DD8-780D-C399-D5628EA46201}"/>
                </a:ext>
              </a:extLst>
            </p:cNvPr>
            <p:cNvSpPr/>
            <p:nvPr/>
          </p:nvSpPr>
          <p:spPr>
            <a:xfrm rot="5400000" flipH="1">
              <a:off x="9022304" y="-1645696"/>
              <a:ext cx="6339392" cy="24384000"/>
            </a:xfrm>
            <a:custGeom>
              <a:avLst/>
              <a:gdLst/>
              <a:ahLst/>
              <a:cxnLst/>
              <a:rect l="l" t="t" r="r" b="b"/>
              <a:pathLst>
                <a:path w="6339392" h="24384000" extrusionOk="0">
                  <a:moveTo>
                    <a:pt x="0" y="24384000"/>
                  </a:moveTo>
                  <a:lnTo>
                    <a:pt x="6339392" y="24384000"/>
                  </a:lnTo>
                  <a:lnTo>
                    <a:pt x="6339392" y="0"/>
                  </a:lnTo>
                  <a:lnTo>
                    <a:pt x="0" y="0"/>
                  </a:lnTo>
                  <a:lnTo>
                    <a:pt x="0" y="2438400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l="-29726" r="-254888"/>
              </a:stretch>
            </a:blipFill>
            <a:ln>
              <a:noFill/>
            </a:ln>
          </p:spPr>
          <p:txBody>
            <a:bodyPr/>
            <a:lstStyle/>
            <a:p>
              <a:endParaRPr lang="ja-JP" altLang="en-US" sz="900"/>
            </a:p>
          </p:txBody>
        </p:sp>
      </p:grpSp>
      <p:grpSp>
        <p:nvGrpSpPr>
          <p:cNvPr id="60" name="Google Shape;60;p11">
            <a:extLst>
              <a:ext uri="{FF2B5EF4-FFF2-40B4-BE49-F238E27FC236}">
                <a16:creationId xmlns:a16="http://schemas.microsoft.com/office/drawing/2014/main" id="{26C20174-95F2-EBD8-F6DD-457DDF4548F4}"/>
              </a:ext>
            </a:extLst>
          </p:cNvPr>
          <p:cNvGrpSpPr/>
          <p:nvPr/>
        </p:nvGrpSpPr>
        <p:grpSpPr>
          <a:xfrm>
            <a:off x="385139" y="399016"/>
            <a:ext cx="8385542" cy="4387004"/>
            <a:chOff x="0" y="-47625"/>
            <a:chExt cx="4417075" cy="2310850"/>
          </a:xfrm>
        </p:grpSpPr>
        <p:sp>
          <p:nvSpPr>
            <p:cNvPr id="61" name="Google Shape;61;p11">
              <a:extLst>
                <a:ext uri="{FF2B5EF4-FFF2-40B4-BE49-F238E27FC236}">
                  <a16:creationId xmlns:a16="http://schemas.microsoft.com/office/drawing/2014/main" id="{14390894-C34A-09E7-22A7-C9162D2D4456}"/>
                </a:ext>
              </a:extLst>
            </p:cNvPr>
            <p:cNvSpPr/>
            <p:nvPr/>
          </p:nvSpPr>
          <p:spPr>
            <a:xfrm>
              <a:off x="0" y="0"/>
              <a:ext cx="4417075" cy="2263225"/>
            </a:xfrm>
            <a:custGeom>
              <a:avLst/>
              <a:gdLst/>
              <a:ahLst/>
              <a:cxnLst/>
              <a:rect l="l" t="t" r="r" b="b"/>
              <a:pathLst>
                <a:path w="4417075" h="2263225" extrusionOk="0">
                  <a:moveTo>
                    <a:pt x="0" y="0"/>
                  </a:moveTo>
                  <a:lnTo>
                    <a:pt x="4417075" y="0"/>
                  </a:lnTo>
                  <a:lnTo>
                    <a:pt x="4417075" y="2263225"/>
                  </a:lnTo>
                  <a:lnTo>
                    <a:pt x="0" y="226322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ja-JP" altLang="en-US" sz="900"/>
            </a:p>
          </p:txBody>
        </p:sp>
        <p:sp>
          <p:nvSpPr>
            <p:cNvPr id="62" name="Google Shape;62;p11">
              <a:extLst>
                <a:ext uri="{FF2B5EF4-FFF2-40B4-BE49-F238E27FC236}">
                  <a16:creationId xmlns:a16="http://schemas.microsoft.com/office/drawing/2014/main" id="{7FE0D68A-AAC9-9E4E-03FE-DA68385EE43C}"/>
                </a:ext>
              </a:extLst>
            </p:cNvPr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algn="ctr">
                <a:lnSpc>
                  <a:spcPct val="186611"/>
                </a:lnSpc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4" name="Google Shape;64;p11">
            <a:extLst>
              <a:ext uri="{FF2B5EF4-FFF2-40B4-BE49-F238E27FC236}">
                <a16:creationId xmlns:a16="http://schemas.microsoft.com/office/drawing/2014/main" id="{29C7E934-92C9-E7E3-8711-306FEE2F827F}"/>
              </a:ext>
            </a:extLst>
          </p:cNvPr>
          <p:cNvSpPr txBox="1"/>
          <p:nvPr/>
        </p:nvSpPr>
        <p:spPr>
          <a:xfrm>
            <a:off x="779281" y="679537"/>
            <a:ext cx="7435171" cy="646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2"/>
              </a:lnSpc>
            </a:pPr>
            <a:r>
              <a:rPr lang="ja-JP" altLang="en-US" sz="3499" b="1">
                <a:solidFill>
                  <a:srgbClr val="FFFFFF"/>
                </a:solidFill>
                <a:latin typeface="Archivo Black"/>
                <a:sym typeface="Archivo Black"/>
              </a:rPr>
              <a:t>今後の発展性</a:t>
            </a:r>
            <a:endParaRPr lang="ja-JP" altLang="en-US" sz="900" b="1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31A6F61-83E3-B7BC-166A-839FADBF357C}"/>
              </a:ext>
            </a:extLst>
          </p:cNvPr>
          <p:cNvSpPr/>
          <p:nvPr/>
        </p:nvSpPr>
        <p:spPr>
          <a:xfrm>
            <a:off x="779281" y="1311308"/>
            <a:ext cx="1828800" cy="45720"/>
          </a:xfrm>
          <a:prstGeom prst="rect">
            <a:avLst/>
          </a:prstGeom>
          <a:solidFill>
            <a:srgbClr val="7AA2F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5" name="Rectangle 64"/>
          <p:cNvSpPr/>
          <p:nvPr/>
        </p:nvSpPr>
        <p:spPr>
          <a:xfrm>
            <a:off x="457200" y="1481328"/>
            <a:ext cx="8229600" cy="731520"/>
          </a:xfrm>
          <a:prstGeom prst="rect">
            <a:avLst/>
          </a:prstGeom>
          <a:solidFill>
            <a:srgbClr val="252D37"/>
          </a:solidFill>
          <a:ln w="12700">
            <a:solidFill>
              <a:srgbClr val="7AA2F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40080" y="1481328"/>
            <a:ext cx="2011680" cy="73152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marL="0" indent="0">
              <a:buNone/>
            </a:pPr>
            <a:r>
              <a:rPr lang="ja-JP" alt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広げる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ja-JP" altLang="en-US" sz="1000" b="0">
                <a:solidFill>
                  <a:srgbClr val="8B95A3"/>
                </a:solidFill>
                <a:latin typeface="Calibri"/>
                <a:ea typeface="Calibri"/>
                <a:cs typeface="Calibri"/>
              </a:rPr>
              <a:t>シナリオを増やす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743200" y="1639339"/>
            <a:ext cx="5760720" cy="415498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marL="0" indent="0">
              <a:buNone/>
            </a:pPr>
            <a:r>
              <a:rPr lang="ja-JP" altLang="en-US" sz="1050" b="0">
                <a:solidFill>
                  <a:srgbClr val="8B95A3"/>
                </a:solidFill>
                <a:latin typeface="Calibri"/>
                <a:ea typeface="Calibri"/>
                <a:cs typeface="Calibri"/>
              </a:rPr>
              <a:t>コミュニティからの投稿を受け付け、新しい脅威・業界の演習を増やす</a:t>
            </a:r>
            <a:endParaRPr lang="en-US" altLang="ja-JP" sz="1050" b="0" dirty="0">
              <a:solidFill>
                <a:srgbClr val="8B95A3"/>
              </a:solidFill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ja-JP" altLang="en-US" sz="1050" b="0">
                <a:solidFill>
                  <a:srgbClr val="8B95A3"/>
                </a:solidFill>
                <a:latin typeface="Calibri"/>
                <a:ea typeface="Calibri"/>
                <a:cs typeface="Calibri"/>
              </a:rPr>
              <a:t>シナリオは YAML を1ファイル置くだけで追加できる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7200" y="2497376"/>
            <a:ext cx="8229600" cy="731520"/>
          </a:xfrm>
          <a:prstGeom prst="rect">
            <a:avLst/>
          </a:prstGeom>
          <a:solidFill>
            <a:srgbClr val="252D37"/>
          </a:solidFill>
          <a:ln w="12700">
            <a:solidFill>
              <a:srgbClr val="7AA2F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40080" y="2634868"/>
            <a:ext cx="2011680" cy="456535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marL="0" indent="0">
              <a:buNone/>
            </a:pPr>
            <a:r>
              <a:rPr lang="ja-JP" alt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深める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ja-JP" altLang="en-US" sz="1000" b="0">
                <a:solidFill>
                  <a:srgbClr val="8B95A3"/>
                </a:solidFill>
                <a:latin typeface="Calibri"/>
                <a:ea typeface="Calibri"/>
                <a:cs typeface="Calibri"/>
              </a:rPr>
              <a:t>報告・連絡と個別化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743200" y="2655387"/>
            <a:ext cx="5760720" cy="415498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marL="0" indent="0">
              <a:buNone/>
            </a:pPr>
            <a:r>
              <a:rPr lang="ja-JP" altLang="en-US" sz="1050" b="0">
                <a:solidFill>
                  <a:srgbClr val="8B95A3"/>
                </a:solidFill>
                <a:latin typeface="Calibri"/>
                <a:ea typeface="Calibri"/>
                <a:cs typeface="Calibri"/>
              </a:rPr>
              <a:t>報告・連絡フェーズを、法令対応最優先の方針とあわせて追加する</a:t>
            </a:r>
            <a:endParaRPr lang="en-US" altLang="ja-JP" sz="1050" b="0" dirty="0">
              <a:solidFill>
                <a:srgbClr val="8B95A3"/>
              </a:solidFill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ja-JP" altLang="en-US" sz="1050" b="0">
                <a:solidFill>
                  <a:srgbClr val="8B95A3"/>
                </a:solidFill>
                <a:latin typeface="Calibri"/>
                <a:ea typeface="Calibri"/>
                <a:cs typeface="Calibri"/>
              </a:rPr>
              <a:t>過去のプレイ結果からアシストレベルを自動で調整</a:t>
            </a:r>
            <a:r>
              <a:rPr lang="ja-JP" altLang="en-US" sz="1050">
                <a:solidFill>
                  <a:srgbClr val="8B95A3"/>
                </a:solidFill>
                <a:latin typeface="Calibri"/>
                <a:ea typeface="Calibri"/>
                <a:cs typeface="Calibri"/>
              </a:rPr>
              <a:t>し、個人に合った演習ツールとする</a:t>
            </a:r>
            <a:endParaRPr lang="ja-JP" altLang="en-US" sz="1050" b="0">
              <a:solidFill>
                <a:srgbClr val="8B95A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457200" y="3513424"/>
            <a:ext cx="8229600" cy="731520"/>
          </a:xfrm>
          <a:prstGeom prst="rect">
            <a:avLst/>
          </a:prstGeom>
          <a:solidFill>
            <a:srgbClr val="252D37"/>
          </a:solidFill>
          <a:ln w="12700">
            <a:solidFill>
              <a:srgbClr val="7AA2F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40080" y="3561148"/>
            <a:ext cx="2011680" cy="636072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marL="0" indent="0">
              <a:buNone/>
            </a:pPr>
            <a:r>
              <a:rPr lang="ja-JP" alt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つなげる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ja-JP" altLang="en-US" sz="1000" b="0">
                <a:solidFill>
                  <a:srgbClr val="8B95A3"/>
                </a:solidFill>
                <a:latin typeface="Calibri"/>
                <a:ea typeface="Calibri"/>
                <a:cs typeface="Calibri"/>
              </a:rPr>
              <a:t>チーム・AI</a:t>
            </a:r>
            <a:r>
              <a:rPr lang="ja-JP" altLang="en-US" sz="1000">
                <a:solidFill>
                  <a:srgbClr val="8B95A3"/>
                </a:solidFill>
                <a:latin typeface="Calibri"/>
                <a:ea typeface="Calibri"/>
                <a:cs typeface="Calibri"/>
              </a:rPr>
              <a:t>モードの実装</a:t>
            </a:r>
            <a:endParaRPr lang="en-US" altLang="ja-JP" sz="1000" dirty="0">
              <a:solidFill>
                <a:srgbClr val="8B95A3"/>
              </a:solidFill>
              <a:latin typeface="Calibri"/>
              <a:ea typeface="Calibri"/>
              <a:cs typeface="Calibri"/>
            </a:endParaRPr>
          </a:p>
          <a:p>
            <a:pPr marL="0" indent="0">
              <a:spcBef>
                <a:spcPts val="200"/>
              </a:spcBef>
              <a:buNone/>
            </a:pPr>
            <a:r>
              <a:rPr lang="ja-JP" altLang="en-US" sz="1000" b="0">
                <a:solidFill>
                  <a:srgbClr val="8B95A3"/>
                </a:solidFill>
                <a:latin typeface="Calibri"/>
                <a:ea typeface="Calibri"/>
                <a:cs typeface="Calibri"/>
              </a:rPr>
              <a:t>実環境連携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743200" y="3671435"/>
            <a:ext cx="5760720" cy="415498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marL="0" indent="0">
              <a:buNone/>
            </a:pPr>
            <a:r>
              <a:rPr lang="ja-JP" altLang="en-US" sz="1050" b="0">
                <a:solidFill>
                  <a:srgbClr val="8B95A3"/>
                </a:solidFill>
                <a:latin typeface="Calibri"/>
                <a:ea typeface="Calibri"/>
                <a:cs typeface="Calibri"/>
              </a:rPr>
              <a:t>複数人での同時プレイ・チーム演習モード・LLM エージェントとのプレイ</a:t>
            </a:r>
            <a:r>
              <a:rPr lang="ja-JP" altLang="en-US" sz="1050">
                <a:solidFill>
                  <a:srgbClr val="8B95A3"/>
                </a:solidFill>
                <a:latin typeface="Calibri"/>
                <a:ea typeface="Calibri"/>
                <a:cs typeface="Calibri"/>
              </a:rPr>
              <a:t>モードの実装</a:t>
            </a:r>
            <a:endParaRPr lang="en-US" altLang="ja-JP" sz="1050" dirty="0">
              <a:solidFill>
                <a:srgbClr val="8B95A3"/>
              </a:solidFill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ja-JP" altLang="en-US" sz="1050" b="0">
                <a:solidFill>
                  <a:srgbClr val="8B95A3"/>
                </a:solidFill>
                <a:latin typeface="Calibri"/>
                <a:ea typeface="Calibri"/>
                <a:cs typeface="Calibri"/>
              </a:rPr>
              <a:t>実環境と連携し、より上級者向けの演習ツールとする</a:t>
            </a:r>
          </a:p>
        </p:txBody>
      </p:sp>
    </p:spTree>
    <p:extLst>
      <p:ext uri="{BB962C8B-B14F-4D97-AF65-F5344CB8AC3E}">
        <p14:creationId xmlns:p14="http://schemas.microsoft.com/office/powerpoint/2010/main" val="25948108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57;p11">
            <a:extLst>
              <a:ext uri="{FF2B5EF4-FFF2-40B4-BE49-F238E27FC236}">
                <a16:creationId xmlns:a16="http://schemas.microsoft.com/office/drawing/2014/main" id="{075C09BE-6691-3301-D66A-FFDE790604DD}"/>
              </a:ext>
            </a:extLst>
          </p:cNvPr>
          <p:cNvGrpSpPr/>
          <p:nvPr/>
        </p:nvGrpSpPr>
        <p:grpSpPr>
          <a:xfrm>
            <a:off x="0" y="0"/>
            <a:ext cx="9144000" cy="5143500"/>
            <a:chOff x="0" y="0"/>
            <a:chExt cx="24384000" cy="13716000"/>
          </a:xfrm>
        </p:grpSpPr>
        <p:sp>
          <p:nvSpPr>
            <p:cNvPr id="11" name="Google Shape;58;p11">
              <a:extLst>
                <a:ext uri="{FF2B5EF4-FFF2-40B4-BE49-F238E27FC236}">
                  <a16:creationId xmlns:a16="http://schemas.microsoft.com/office/drawing/2014/main" id="{12BFBA93-808A-CA71-C620-75C5F47D863E}"/>
                </a:ext>
              </a:extLst>
            </p:cNvPr>
            <p:cNvSpPr/>
            <p:nvPr/>
          </p:nvSpPr>
          <p:spPr>
            <a:xfrm rot="5400000">
              <a:off x="8503696" y="-8503696"/>
              <a:ext cx="7376608" cy="24384000"/>
            </a:xfrm>
            <a:custGeom>
              <a:avLst/>
              <a:gdLst/>
              <a:ahLst/>
              <a:cxnLst/>
              <a:rect l="l" t="t" r="r" b="b"/>
              <a:pathLst>
                <a:path w="7376608" h="24384000" extrusionOk="0">
                  <a:moveTo>
                    <a:pt x="0" y="0"/>
                  </a:moveTo>
                  <a:lnTo>
                    <a:pt x="7376608" y="0"/>
                  </a:lnTo>
                  <a:lnTo>
                    <a:pt x="7376608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50000"/>
              </a:blip>
              <a:stretch>
                <a:fillRect l="-25548" r="-205007"/>
              </a:stretch>
            </a:blipFill>
            <a:ln>
              <a:noFill/>
            </a:ln>
          </p:spPr>
          <p:txBody>
            <a:bodyPr/>
            <a:lstStyle/>
            <a:p>
              <a:endParaRPr lang="ja-JP" altLang="en-US" sz="900"/>
            </a:p>
          </p:txBody>
        </p:sp>
        <p:sp>
          <p:nvSpPr>
            <p:cNvPr id="12" name="Google Shape;59;p11">
              <a:extLst>
                <a:ext uri="{FF2B5EF4-FFF2-40B4-BE49-F238E27FC236}">
                  <a16:creationId xmlns:a16="http://schemas.microsoft.com/office/drawing/2014/main" id="{0522562C-5639-E336-EF2F-FDD6647E4601}"/>
                </a:ext>
              </a:extLst>
            </p:cNvPr>
            <p:cNvSpPr/>
            <p:nvPr/>
          </p:nvSpPr>
          <p:spPr>
            <a:xfrm rot="5400000" flipH="1">
              <a:off x="9022304" y="-1645696"/>
              <a:ext cx="6339392" cy="24384000"/>
            </a:xfrm>
            <a:custGeom>
              <a:avLst/>
              <a:gdLst/>
              <a:ahLst/>
              <a:cxnLst/>
              <a:rect l="l" t="t" r="r" b="b"/>
              <a:pathLst>
                <a:path w="6339392" h="24384000" extrusionOk="0">
                  <a:moveTo>
                    <a:pt x="0" y="24384000"/>
                  </a:moveTo>
                  <a:lnTo>
                    <a:pt x="6339392" y="24384000"/>
                  </a:lnTo>
                  <a:lnTo>
                    <a:pt x="6339392" y="0"/>
                  </a:lnTo>
                  <a:lnTo>
                    <a:pt x="0" y="0"/>
                  </a:lnTo>
                  <a:lnTo>
                    <a:pt x="0" y="24384000"/>
                  </a:lnTo>
                  <a:close/>
                </a:path>
              </a:pathLst>
            </a:custGeom>
            <a:blipFill rotWithShape="1">
              <a:blip r:embed="rId3">
                <a:alphaModFix amt="50000"/>
              </a:blip>
              <a:stretch>
                <a:fillRect l="-29726" r="-254888"/>
              </a:stretch>
            </a:blipFill>
            <a:ln>
              <a:noFill/>
            </a:ln>
          </p:spPr>
          <p:txBody>
            <a:bodyPr/>
            <a:lstStyle/>
            <a:p>
              <a:endParaRPr lang="ja-JP" altLang="en-US" sz="900"/>
            </a:p>
          </p:txBody>
        </p:sp>
      </p:grpSp>
      <p:grpSp>
        <p:nvGrpSpPr>
          <p:cNvPr id="100" name="Google Shape;100;p13"/>
          <p:cNvGrpSpPr/>
          <p:nvPr/>
        </p:nvGrpSpPr>
        <p:grpSpPr>
          <a:xfrm>
            <a:off x="528537" y="469143"/>
            <a:ext cx="8086926" cy="4205213"/>
            <a:chOff x="0" y="-47625"/>
            <a:chExt cx="4259780" cy="2215092"/>
          </a:xfrm>
        </p:grpSpPr>
        <p:sp>
          <p:nvSpPr>
            <p:cNvPr id="101" name="Google Shape;101;p13"/>
            <p:cNvSpPr/>
            <p:nvPr/>
          </p:nvSpPr>
          <p:spPr>
            <a:xfrm>
              <a:off x="0" y="0"/>
              <a:ext cx="4259780" cy="2167467"/>
            </a:xfrm>
            <a:custGeom>
              <a:avLst/>
              <a:gdLst/>
              <a:ahLst/>
              <a:cxnLst/>
              <a:rect l="l" t="t" r="r" b="b"/>
              <a:pathLst>
                <a:path w="4259780" h="2167467" extrusionOk="0">
                  <a:moveTo>
                    <a:pt x="0" y="0"/>
                  </a:moveTo>
                  <a:lnTo>
                    <a:pt x="4259780" y="0"/>
                  </a:lnTo>
                  <a:lnTo>
                    <a:pt x="4259780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7AA2F8">
                <a:alpha val="0"/>
              </a:srgbClr>
            </a:solidFill>
            <a:ln w="38100" cap="sq" cmpd="sng">
              <a:solidFill>
                <a:srgbClr val="7AA2F8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ja-JP" altLang="en-US" sz="900">
                <a:solidFill>
                  <a:srgbClr val="7AA2F8"/>
                </a:solidFill>
              </a:endParaRPr>
            </a:p>
          </p:txBody>
        </p:sp>
        <p:sp>
          <p:nvSpPr>
            <p:cNvPr id="102" name="Google Shape;102;p13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algn="ctr">
                <a:lnSpc>
                  <a:spcPct val="186611"/>
                </a:lnSpc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" name="Text 2">
            <a:extLst>
              <a:ext uri="{FF2B5EF4-FFF2-40B4-BE49-F238E27FC236}">
                <a16:creationId xmlns:a16="http://schemas.microsoft.com/office/drawing/2014/main" id="{4995A459-0AF8-E8B0-1483-07EA596D1629}"/>
              </a:ext>
            </a:extLst>
          </p:cNvPr>
          <p:cNvSpPr/>
          <p:nvPr/>
        </p:nvSpPr>
        <p:spPr>
          <a:xfrm>
            <a:off x="621791" y="1421644"/>
            <a:ext cx="7900417" cy="79967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 err="1">
                <a:solidFill>
                  <a:srgbClr val="7AA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IR（Incident</a:t>
            </a:r>
            <a:r>
              <a:rPr lang="en-US" sz="3200" b="1" dirty="0">
                <a:solidFill>
                  <a:srgbClr val="7AA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 err="1">
                <a:solidFill>
                  <a:srgbClr val="7AA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Response）演習の新しい形</a:t>
            </a:r>
            <a:endParaRPr lang="en-US" sz="3200" b="1" dirty="0">
              <a:solidFill>
                <a:srgbClr val="7AA2F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A928F154-1B40-BDA9-EA66-274C96D080CF}"/>
              </a:ext>
            </a:extLst>
          </p:cNvPr>
          <p:cNvSpPr/>
          <p:nvPr/>
        </p:nvSpPr>
        <p:spPr>
          <a:xfrm>
            <a:off x="457200" y="2353056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 err="1"/>
              <a:t>セキュリティ教育課題の改善とインシデント対応力の養成</a:t>
            </a:r>
            <a:endParaRPr lang="en-US" sz="1600" dirty="0"/>
          </a:p>
        </p:txBody>
      </p:sp>
      <p:sp>
        <p:nvSpPr>
          <p:cNvPr id="17" name="Shape 4">
            <a:extLst>
              <a:ext uri="{FF2B5EF4-FFF2-40B4-BE49-F238E27FC236}">
                <a16:creationId xmlns:a16="http://schemas.microsoft.com/office/drawing/2014/main" id="{A8466DD6-0E5C-CF65-6080-2D5E7D8F931B}"/>
              </a:ext>
            </a:extLst>
          </p:cNvPr>
          <p:cNvSpPr/>
          <p:nvPr/>
        </p:nvSpPr>
        <p:spPr>
          <a:xfrm>
            <a:off x="2315593" y="2725798"/>
            <a:ext cx="4512813" cy="45719"/>
          </a:xfrm>
          <a:prstGeom prst="rect">
            <a:avLst/>
          </a:prstGeom>
          <a:solidFill>
            <a:srgbClr val="7AA2F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768A3251-AF42-8A6F-2AF8-135FD2316BAE}"/>
              </a:ext>
            </a:extLst>
          </p:cNvPr>
          <p:cNvSpPr/>
          <p:nvPr/>
        </p:nvSpPr>
        <p:spPr>
          <a:xfrm>
            <a:off x="457200" y="2834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 i="0">
                <a:solidFill>
                  <a:srgbClr val="D7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https://github.com/soyasanada/IR-Dojo</a:t>
            </a:r>
            <a:endParaRPr lang="en-US" sz="1200" dirty="0"/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86A5099D-8434-E378-2243-0F5A817E78F8}"/>
              </a:ext>
            </a:extLst>
          </p:cNvPr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0" dirty="0">
                <a:solidFill>
                  <a:srgbClr val="D7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CSS2026 MWS Cup ハッカソン提出作品 | エンジン MIT・シナリオ CC-BY-4.0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テーマ">
  <a:themeElements>
    <a:clrScheme name="Office 2013 - 2022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372</TotalTime>
  <Words>876</Words>
  <Application>Microsoft Macintosh PowerPoint</Application>
  <PresentationFormat>画面に合わせる (16:9)</PresentationFormat>
  <Paragraphs>127</Paragraphs>
  <Slides>11</Slides>
  <Notes>11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8" baseType="lpstr">
      <vt:lpstr>Archivo Black</vt:lpstr>
      <vt:lpstr>Hiragino Kaku Gothic StdN W8</vt:lpstr>
      <vt:lpstr>Arial</vt:lpstr>
      <vt:lpstr>Calibri</vt:lpstr>
      <vt:lpstr>Calibri Light</vt:lpstr>
      <vt:lpstr>Noto Sans</vt:lpstr>
      <vt:lpstr>Office 2013 - 2022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Sanada Soya</cp:lastModifiedBy>
  <cp:revision>8</cp:revision>
  <dcterms:created xsi:type="dcterms:W3CDTF">2026-09-26T06:16:28Z</dcterms:created>
  <dcterms:modified xsi:type="dcterms:W3CDTF">2026-09-26T12:53:36Z</dcterms:modified>
</cp:coreProperties>
</file>